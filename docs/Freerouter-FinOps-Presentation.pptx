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77" r:id="rId5"/>
    <p:sldId id="257" r:id="rId6"/>
    <p:sldId id="258" r:id="rId7"/>
    <p:sldId id="259" r:id="rId8"/>
    <p:sldId id="260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23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0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60073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CCB0E6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82296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Calibri"/>
              </a:rPr>
              <a:t>Spending Smarter on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E6D9F2"/>
                </a:solidFill>
                <a:latin typeface="Calibri"/>
              </a:rPr>
              <a:t>The FinOps principles built into FreeRouter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spc="200">
                <a:solidFill>
                  <a:srgbClr val="CCB0E6"/>
                </a:solidFill>
                <a:latin typeface="Calibri"/>
              </a:rPr>
              <a:t>A NON-TECHNICAL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AI costs can spiral overnight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When teams use large language models, a single mistake - a runaway loop, an over-eager experiment - can burn through a month's budget in minutes. Without controls, leaders are forced to choose between innovation and predictability.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Unbounded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No caps means no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0832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0832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Who used what, and why?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93024" y="2578608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Reactive, not proactive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4" y="34930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Surprises arrive at month-end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114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applies proven FinOps principles to AI spend - turning a cost surprise into a cost strategy.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FinOps?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FinOps is the discipline of bringing financial accountability to variable, on-demand spending. It is built on four simple ideas.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1. See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dollar should be visible - by team, by user, by use case - in real time, not at month-end.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2. Own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The teams using AI should be the teams accountable for the spend. Budgets cascade from the top 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3. Optimize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Spend the right amount on the right work - no more, no less. Premium models for premium tasks.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4. Adapt continuously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Prices change, priorities shift, models evolve. Controls must update without redeploying systems.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EC322-B2ED-FA06-EDDD-B7141475E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B70F8D-3BF3-02D8-5D2C-482484E4C141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7F9EE4-C6C6-4574-E8F7-70AC0C55970E}"/>
              </a:ext>
            </a:extLst>
          </p:cNvPr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DCA958-CF40-CD4A-F718-5111B173417B}"/>
              </a:ext>
            </a:extLst>
          </p:cNvPr>
          <p:cNvSpPr txBox="1"/>
          <p:nvPr/>
        </p:nvSpPr>
        <p:spPr>
          <a:xfrm>
            <a:off x="731520" y="301752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 dirty="0">
                <a:solidFill>
                  <a:srgbClr val="FFFFFF"/>
                </a:solidFill>
                <a:latin typeface="Calibri"/>
              </a:rPr>
              <a:t>FREEROUTER</a:t>
            </a:r>
            <a:endParaRPr sz="4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FF699-DC5C-2C95-5906-58AFB147F293}"/>
              </a:ext>
            </a:extLst>
          </p:cNvPr>
          <p:cNvSpPr txBox="1"/>
          <p:nvPr/>
        </p:nvSpPr>
        <p:spPr>
          <a:xfrm>
            <a:off x="731520" y="420624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>
                <a:solidFill>
                  <a:srgbClr val="CCB0E6"/>
                </a:solidFill>
                <a:latin typeface="Calibri"/>
              </a:rPr>
              <a:t>Enterprise grade </a:t>
            </a:r>
            <a:r>
              <a:rPr lang="en-US" dirty="0">
                <a:solidFill>
                  <a:srgbClr val="CCB0E6"/>
                </a:solidFill>
                <a:latin typeface="Calibri"/>
              </a:rPr>
              <a:t>Ultra low latency </a:t>
            </a:r>
            <a:r>
              <a:rPr lang="en-US" sz="1800" b="0" dirty="0">
                <a:solidFill>
                  <a:srgbClr val="CCB0E6"/>
                </a:solidFill>
                <a:latin typeface="Calibri"/>
              </a:rPr>
              <a:t>LLM router with built in FinOps</a:t>
            </a:r>
            <a:endParaRPr sz="1800" b="0" dirty="0">
              <a:solidFill>
                <a:srgbClr val="CCB0E6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870CD8-1FF8-3B37-719D-F01203540E03}"/>
              </a:ext>
            </a:extLst>
          </p:cNvPr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770965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INTRODUCING FREEROUTER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FreeRouter?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is an enterprise-grade routing layer for AI that gives leaders control over spending, security, and provider choice - all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 smart gateway for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7180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FreeRouter sits between your applications and the AI providers - every request flows through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63347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Multi-provider,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7180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Works with OpenAI, Anthropic, Google Gemini, Mistral, and more - swap or combine without redeploying.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Bring Your Own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09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Each user supplies their own AI provider key. Keys are encrypted and never logged or exposed.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70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Embed it, don't host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709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 lightweight library that drops into your existing applications - no extra infrastructure to operate.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FREEROUTER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solves 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Each pain point in AI adoption maps to a built-in capability - so leaders move from firefighting to forecasting.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03520" cy="365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497433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5C5C5C"/>
                </a:solidFill>
                <a:latin typeface="Calibri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920240"/>
            <a:ext cx="530352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920240"/>
            <a:ext cx="497433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FFFFFF"/>
                </a:solidFill>
                <a:latin typeface="Calibri"/>
              </a:rPr>
              <a:t>FREEROUTER SOLVES IT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95728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Costs explode without 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95728"/>
            <a:ext cx="457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395728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2395728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395728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Five-tier budget cascade catches overspend before it happens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82696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282696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Teams use the most expensive model for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82696"/>
            <a:ext cx="457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282696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3282696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282696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Routes batch and back-office work to cheaper, capable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69664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69664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Finance can't tell who used what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169664"/>
            <a:ext cx="457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69664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4169664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4169664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Real-time spend tracking and ERP-ready chargeback reports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56632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05663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Provider outages break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056632"/>
            <a:ext cx="457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056632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09360" y="5056632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505663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Automatic fallback across providers - no redeploy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943600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594360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Compliance changes take weeks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5943600"/>
            <a:ext cx="457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5943600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5943600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92240" y="594360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Block models or update policies in seconds, 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7863" y="63093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BUILT FOR THE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Why FreeRouter works at enterprise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Large organisations need controls that match how they actually operate - with multiple teams, strict compliance, and zero tolerance for downtime.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Hierarchical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Budgets and policies cascade through org &gt; department &gt; team &gt; user. Every layer has visibility and control over what sits beneath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Audit-ready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key change, every request, every policy decision is logged in a structured audit trail - ready for SOC 2, ISO, and internal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883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Compliance and legal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2148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 any model instantly across all teams when legal or compliance raises a concern. No emergency redeploys, no downtime.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8315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Chargeback to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2148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Generate breakdowns by team, department, model, and provider for any date range - feed them straight into existing finance systems.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1328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Zero new 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7116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Built with no third-party packages - no new supply-chain risk, no transitive vulnerabilities for security teams to track.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7220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1328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Hot-reload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471160"/>
            <a:ext cx="5074920" cy="426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Pricing, rules, models, providers - all updatable at runtime by platform admins, with no engineering ticket required.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CLOUD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Runs anywhere your business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has zero infrastructure dependencies, so it deploys natively on every major cloud platform - and routes to that cloud's native AI services too.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Amazon Web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1071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in any container service: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94760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ECS, EKS, Fargate, App 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78808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8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Lambda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62856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562856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DynamoDB or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46904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46904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AWS Secrets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3095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Bedrock models routed alongside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1584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1584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1584" y="2505456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1584" y="2880360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Microsoft Azure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4464" y="341071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3064" y="341071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App Service or AKS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4464" y="3794760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3064" y="3794760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Azure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4464" y="4178808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3064" y="4178808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Cosmos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4464" y="4562856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3064" y="4562856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Azure Key 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4464" y="4946904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3064" y="4946904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Azure OpenAI routed natively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4464" y="533095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3064" y="533095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Microsoft Entra ID for identity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4528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34528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34528" y="2505456"/>
            <a:ext cx="35783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GCP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34528" y="2880360"/>
            <a:ext cx="3578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Google Cloud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7408" y="341071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6008" y="341071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Cloud Run or GKE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7408" y="3794760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6008" y="3794760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Cloud Functions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178808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6008" y="4178808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Firestore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7408" y="4562856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6008" y="4562856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Secret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7408" y="4946904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6008" y="4946904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Vertex AI / Gemini routed natively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7408" y="5330952"/>
            <a:ext cx="228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6008" y="5330952"/>
            <a:ext cx="30297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IAM via Workload Identity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1722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61722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7240" y="61722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is cloud-agnostic - the same library runs unchanged across AWS, Azure, and GCP.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Real-time visibility into who is spending what, on which model, for which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1 -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Every request, fully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records every interaction with full context - so leaders never have to ask "where did that bill come from?"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spend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spend by user, team, department, and organisation - available at any moment.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4670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Audit trail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3931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request, key change, and budget event is logged with who, what, when,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7822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Chargeback-ready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569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One click produces an ERP-ready breakdown - by team, by model, by provider, for any date range.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6460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91947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Threshold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212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At 50%, 80%, 95% of budget - automated notifications go to the right people, before it's too late.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Budgets cascade from the enterprise down to the individual - accountability at every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Budgets cascade through the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request must satisfy every budget above it. Engineering's overspend cannot consume the sales team's budget. Each layer protects the others.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Global enterprise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5292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40156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395020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4498848"/>
            <a:ext cx="1218895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Individual user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Five tiers, all checked before every single request. No team can blow another team's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a budget is reached, choose your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Different teams need different protections. A research lab might warn; a customer-facing product must block. FreeRouter lets each policy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1828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560320"/>
            <a:ext cx="50292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42032" y="2560320"/>
            <a:ext cx="48646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WHAT HAPPENS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560320"/>
            <a:ext cx="4114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1232" y="2560320"/>
            <a:ext cx="3950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Block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9443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377440" y="343814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42032" y="294436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is rejected immediately.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94436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06640" y="343814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71232" y="294436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Hard caps, customer billing protection.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4728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394106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232" y="344728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Downgrade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4472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377440" y="394106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42032" y="344728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Re-routed to a cheaper model so work continues.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4728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06640" y="394106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71232" y="344728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Keep services running on a smaller footprint.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5020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444398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395020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Warn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377440" y="444398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42032" y="395020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proceeds, a warning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95020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406640" y="444398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1232" y="395020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Internal teams who self-manage spend.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494690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" y="4453128"/>
            <a:ext cx="1499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Notify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4531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377440" y="494690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542032" y="4453128"/>
            <a:ext cx="47000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Triggers external alerts and dashboards.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45312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406640" y="494690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71232" y="4453128"/>
            <a:ext cx="378561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Slack, email, ticketing integration.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Optimize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Spend the right amount on the right work. Pay premium prices only when premium quality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Match the model to the 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Not every task needs a flagship model. FreeRouter automatically routes lower-priority work to the most cost-effective option - without sacrificing quality on the work that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Cheapest viable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For batch and back-office work, FreeRouter picks the lowest-cost model that meets the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Realtime stays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Customer-facing, latency-sensitive requests always use the chosen flagship model - no surprises.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Cache-aware 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offer cached-input discounts, FreeRouter recognises and applies them automatically.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refresh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change their rates, FreeRouter updates without a redeploy. Cost calculations stay accurate.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Typical outcome: overnight batch jobs reduced from premium pricing to a fraction of the cost - often a 10x to 16x reduction.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cost isn't the only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Sometimes quality, compliance, or business value override pure cost minimization. The Rules Engine lets leaders express those choices in plain business terms.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61AC8B5-3793-4294-3CF5-B13C3303CB65}"/>
              </a:ext>
            </a:extLst>
          </p:cNvPr>
          <p:cNvGrpSpPr/>
          <p:nvPr/>
        </p:nvGrpSpPr>
        <p:grpSpPr>
          <a:xfrm>
            <a:off x="548640" y="2468880"/>
            <a:ext cx="11064240" cy="2999232"/>
            <a:chOff x="548640" y="2468880"/>
            <a:chExt cx="11064240" cy="3840480"/>
          </a:xfrm>
        </p:grpSpPr>
        <p:sp>
          <p:nvSpPr>
            <p:cNvPr id="8" name="Rectangle 7"/>
            <p:cNvSpPr/>
            <p:nvPr/>
          </p:nvSpPr>
          <p:spPr>
            <a:xfrm>
              <a:off x="548640" y="2468880"/>
              <a:ext cx="5440680" cy="182880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548640" y="2468880"/>
              <a:ext cx="54864" cy="182880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77240" y="2633472"/>
              <a:ext cx="5074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>
                  <a:solidFill>
                    <a:srgbClr val="460073"/>
                  </a:solidFill>
                  <a:latin typeface="Calibri"/>
                </a:rPr>
                <a:t>Legal team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77240" y="2971800"/>
              <a:ext cx="5074920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Always uses the highest-quality model - contract review is no place to cut corners.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172200" y="2468880"/>
              <a:ext cx="5440680" cy="182880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172200" y="2468880"/>
              <a:ext cx="54864" cy="182880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00800" y="2633472"/>
              <a:ext cx="5074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>
                  <a:solidFill>
                    <a:srgbClr val="460073"/>
                  </a:solidFill>
                  <a:latin typeface="Calibri"/>
                </a:rPr>
                <a:t>Marketing bulk content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00800" y="2971800"/>
              <a:ext cx="5074920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Defaults to the cheapest viable model - volume matters more than nuance.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48640" y="4480560"/>
              <a:ext cx="5440680" cy="182880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8640" y="4480560"/>
              <a:ext cx="54864" cy="182880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4645152"/>
              <a:ext cx="5074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>
                  <a:solidFill>
                    <a:srgbClr val="460073"/>
                  </a:solidFill>
                  <a:latin typeface="Calibri"/>
                </a:rPr>
                <a:t>Code review work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7240" y="4983480"/>
              <a:ext cx="5074920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Always uses a top-tier model regardless of team - quality protects the codebase.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172200" y="4480560"/>
              <a:ext cx="5440680" cy="1828800"/>
            </a:xfrm>
            <a:prstGeom prst="rect">
              <a:avLst/>
            </a:prstGeom>
            <a:solidFill>
              <a:srgbClr val="F2E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72200" y="4480560"/>
              <a:ext cx="54864" cy="1828800"/>
            </a:xfrm>
            <a:prstGeom prst="rect">
              <a:avLst/>
            </a:prstGeom>
            <a:solidFill>
              <a:srgbClr val="A100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0800" y="4645152"/>
              <a:ext cx="50749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>
                  <a:solidFill>
                    <a:srgbClr val="460073"/>
                  </a:solidFill>
                  <a:latin typeface="Calibri"/>
                </a:rPr>
                <a:t>Contractor accounts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00800" y="4983480"/>
              <a:ext cx="5074920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000000"/>
                  </a:solidFill>
                  <a:latin typeface="Calibri"/>
                </a:rPr>
                <a:t>Blocked from frontier models - controlled access, predictable cost.</a:t>
              </a:r>
            </a:p>
          </p:txBody>
        </p:sp>
      </p:grpSp>
      <p:sp>
        <p:nvSpPr>
          <p:cNvPr id="24" name="Rectangle 23"/>
          <p:cNvSpPr/>
          <p:nvPr/>
        </p:nvSpPr>
        <p:spPr>
          <a:xfrm>
            <a:off x="588264" y="5730242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728063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8095" y="6003834"/>
            <a:ext cx="10465961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>
                <a:solidFill>
                  <a:srgbClr val="460073"/>
                </a:solidFill>
                <a:latin typeface="Calibri"/>
              </a:rPr>
              <a:t>Rules can be updated by an admin in seconds - no engineering changes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 coming.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Forecast the future, not just the past. Catch budget risk before it becomes a budget overrun.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4 -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Burn-rate forecasting, in plain English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doesn't just track today's spend - it projects where the team is heading, and flags trouble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468880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Over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burn rate suggests the team will end the month within budget. No action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7083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Spend is trending toward the cap. Time to investigate, throttle non-critical use, or reset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974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6460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Over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15721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The forecast already exceeds the budget. Automated alerts fire so leaders can intervene immediately.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 continuously.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Markets move. Prices change. Policies shift. FinOps controls must keep up - without redeploying.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Change controls, not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FinOps platform that requires an engineering ticket for every change is a FinOps platform no one uses. FreeRouter is designed for live changes by people who manage cost, not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Edit a pricing file, the change is picked up automatically. No restart, no redeploy.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Hot-reloadable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Add, remove, or adjust routing rules at runtime. Incident response in seconds.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Compliance hold,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Block or unblock any model instantly across all teams - without affecting historical reporting.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Spend persistence across restarts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Budget counters survive system restarts. Accountability is never reset by accident.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The five principles, working as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applies all five FinOps principles to every single AI request - automatically, before the request leaves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Real-time spend, audit trail, chargeback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Five-tier budget cascade - no team blows another team's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Cost-aware routing for batch work; quality-first routing where it matters.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Burn-rate forecasting flags trouble days before it hits the budget.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59552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614416"/>
            <a:ext cx="3657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614416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907024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Live pricing, live rules, live policy - managed by admins, not engineers.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9999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FinOps for AI,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A100FF"/>
                </a:solidFill>
                <a:latin typeface="Calibri"/>
              </a:rPr>
              <a:t>built in from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Calibri"/>
              </a:rPr>
              <a:t>Predictable spending. Clear accountability. Real optimization. Without slowing the business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1940</Words>
  <Application>Microsoft Macintosh PowerPoint</Application>
  <PresentationFormat>Widescreen</PresentationFormat>
  <Paragraphs>323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Ahuja, Rajat</cp:lastModifiedBy>
  <cp:revision>2</cp:revision>
  <dcterms:created xsi:type="dcterms:W3CDTF">2013-01-27T09:14:16Z</dcterms:created>
  <dcterms:modified xsi:type="dcterms:W3CDTF">2026-04-27T11:46:26Z</dcterms:modified>
  <cp:category/>
</cp:coreProperties>
</file>