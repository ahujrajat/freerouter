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60073"/>
              </a:gs>
              <a:gs pos="100000">
                <a:srgbClr val="A100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CCB0E6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82296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Spending Smarter on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6D9F2"/>
                </a:solidFill>
                <a:latin typeface="Calibri"/>
              </a:rPr>
              <a:t>The FinOps principles built into FreeRouter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spc="200">
                <a:solidFill>
                  <a:srgbClr val="CCB0E6"/>
                </a:solidFill>
                <a:latin typeface="Calibri"/>
              </a:rPr>
              <a:t>A NON-TECHNICAL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AI costs can spiral overnight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When teams use large language models, a single mistake - a runaway loop, an over-eager experiment - can burn through a month's budget in minutes. Finance can't see it coming, platform teams can't tell who caused it, and compliance has no way to apply guardrails in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657600" cy="14630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365760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7860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460073"/>
                </a:solidFill>
                <a:latin typeface="Calibri"/>
              </a:rPr>
              <a:t>$$$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Unbounded spend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930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Calibri"/>
              </a:rPr>
              <a:t>No caps means no ceiling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2377440"/>
            <a:ext cx="3657600" cy="14630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2377440"/>
            <a:ext cx="365760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257860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460073"/>
                </a:solidFill>
                <a:latin typeface="Calibri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3246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No 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34930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Calibri"/>
              </a:rPr>
              <a:t>Who used what, and why?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4" y="2377440"/>
            <a:ext cx="3657600" cy="14630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4" y="2377440"/>
            <a:ext cx="365760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4" y="257860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460073"/>
                </a:solidFill>
                <a:latin typeface="Calibri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246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Reactive, not proactive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34930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Calibri"/>
              </a:rPr>
              <a:t>Surprises arrive at month-end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14800"/>
            <a:ext cx="11064240" cy="64008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64008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114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60073"/>
                </a:solidFill>
                <a:latin typeface="Calibri"/>
              </a:rPr>
              <a:t>Without controls, leaders are forced to choose between innovation and predictability.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What is FinOps?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FinOps is the operating model for managing variable, consumption-based spending. It treats every dollar like a decision - made jointly by the people who build, the people who pay, and the people who govern.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Financial accountability for variable spend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072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Cloud-style, on-demand consumption needs cloud-style cost discipline. AI is the same shape: usage spikes, prices change, and bills follow afterwards.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00984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0098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 discipline, not a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935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FinOps is a way of working - bringing engineering, finance, and the business onto the same page about how money is spent on shared, elastic infrastructure.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3250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8736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Real-time, not month-end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7997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The unit of decision is a request, not an invoice. Visibility, ownership, and optimization happen continuously - while the workload is still running.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1888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73752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7375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Adopted by the FinOps Foundation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66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An open, vendor-neutral set of practices originally codified for cloud cost management. The same playbook now applies to AI consumption.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FINOPS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Five disciplines, applied continuously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These are the practices every FinOps programme is built on. The remainder of this deck shows how FreeRouter delivers each one out of the box - for AI workloads.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640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9631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See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Every dollar visible - by team, user, and use case - in real time, not at month-end.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233172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233172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2331720"/>
            <a:ext cx="640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9" y="249631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Own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39" y="28346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Teams that consume AI are accountable for that spend. Budgets cascade from the top down.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233172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233172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2331720"/>
            <a:ext cx="640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79" y="249631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Optimize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79" y="28346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Match the model to the work. Premium models for premium tasks; cheaper models everywhere else.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8620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88620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86200"/>
            <a:ext cx="640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50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See it coming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3891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Forecast burn rate. Catch budget risk days before it becomes a budget overrun.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88620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88620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79" y="3886200"/>
            <a:ext cx="640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4050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Adapt continuously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39" y="43891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Prices change, priorities shift, models evolve. Controls must update without redeploying systems.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19" y="388620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19" y="3886200"/>
            <a:ext cx="64008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9" y="3886200"/>
            <a:ext cx="640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=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79" y="4050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One operating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79" y="43891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Together: a single discipline that turns variable, opaque AI cost into a managed, predictable practice.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INTRODUCING FREEROUTER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What is FreeRouter?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FreeRouter is an enterprise-grade routing layer for AI that gives leaders control over spending, security, and provider choice - all in one place.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6400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3347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A smart gateway for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FreeRouter sits between your applications and the AI providers - every request flows through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46888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46888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468880"/>
            <a:ext cx="6400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63347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Multi-provider,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971800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Works with OpenAI, Anthropic, Google Gemini, Mistral, and more - swap or combine without redeploying.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6400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7083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Bring Your Own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09160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Each user supplies their own AI provider key. Keys are encrypted and never logged or exposed.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20624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20624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4206240"/>
            <a:ext cx="6400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37083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Embed it, don't host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709160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A lightweight library that drops into your existing applications - no extra infrastructure to operate.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How FreeRouter is put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A single embeddable library: every request flows from your applications, through FreeRouter's security and routing engine, out to the chosen AI provider - with pluggable adapters for storage and pricing.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377440" cy="3657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spc="200">
                <a:solidFill>
                  <a:srgbClr val="FFFFFF"/>
                </a:solidFill>
                <a:latin typeface="Calibri"/>
              </a:rPr>
              <a:t>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Application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6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OpenAI-compatible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7472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747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BYOK key registration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6908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690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Command-line interface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1828800"/>
            <a:ext cx="6126480" cy="3520440"/>
          </a:xfrm>
          <a:prstGeom prst="rect">
            <a:avLst/>
          </a:prstGeom>
          <a:solidFill>
            <a:srgbClr val="F2E6FF"/>
          </a:solidFill>
          <a:ln w="254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17520" y="1828800"/>
            <a:ext cx="6126480" cy="3657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182880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spc="250">
                <a:solidFill>
                  <a:srgbClr val="FFFFFF"/>
                </a:solidFill>
                <a:latin typeface="Calibri"/>
              </a:rPr>
              <a:t>FREEROUTER 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331720"/>
            <a:ext cx="1417320" cy="96012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331720"/>
            <a:ext cx="13258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Security &amp; Trust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59" y="2331720"/>
            <a:ext cx="136855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64023" y="2331720"/>
            <a:ext cx="125882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Encrypted Key Vault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0864" y="2331720"/>
            <a:ext cx="136855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5728" y="2331720"/>
            <a:ext cx="125882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Prompt Safety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92567" y="2331720"/>
            <a:ext cx="136855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47432" y="2331720"/>
            <a:ext cx="125882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Request Signing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319272"/>
            <a:ext cx="1417320" cy="96012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3319272"/>
            <a:ext cx="13258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Smart Routing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59" y="3319272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64023" y="3319272"/>
            <a:ext cx="89839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Routing Rules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90438" y="3319272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45301" y="3319272"/>
            <a:ext cx="89839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Budget Guardrails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71716" y="3319272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26579" y="3319272"/>
            <a:ext cx="89839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Cost-Aware Routing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2994" y="3319272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7858" y="3319272"/>
            <a:ext cx="89839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Rate Limiting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4306824"/>
            <a:ext cx="1417320" cy="96012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4306824"/>
            <a:ext cx="13258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Visibility &amp; Control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9159" y="4306824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64023" y="4306824"/>
            <a:ext cx="89839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Audit Trail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90438" y="4306824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45301" y="4306824"/>
            <a:ext cx="89839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Live Metrics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71716" y="4306824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26579" y="4306824"/>
            <a:ext cx="89839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Spend Tracking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2994" y="4306824"/>
            <a:ext cx="100812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7858" y="4306824"/>
            <a:ext cx="89839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60073"/>
                </a:solidFill>
                <a:latin typeface="Calibri"/>
              </a:rPr>
              <a:t>Burn-Rate Forecast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18320" y="1828800"/>
            <a:ext cx="2377440" cy="3657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20" y="1828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spc="200">
                <a:solidFill>
                  <a:srgbClr val="FFFFFF"/>
                </a:solidFill>
                <a:latin typeface="Calibri"/>
              </a:rPr>
              <a:t>AI PROVIDERS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228600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418320" y="228600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82912" y="22860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OpenAI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288036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418320" y="288036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82912" y="28803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Anthropic (Claude)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18320" y="347472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18320" y="347472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82912" y="34747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Google Gemini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406908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18320" y="406908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82912" y="40690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Mistral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18320" y="466344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418320" y="466344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82912" y="46634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Groq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2788920" y="3383280"/>
            <a:ext cx="502920" cy="457200"/>
          </a:xfrm>
          <a:prstGeom prst="right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ight Arrow 66"/>
          <p:cNvSpPr/>
          <p:nvPr/>
        </p:nvSpPr>
        <p:spPr>
          <a:xfrm>
            <a:off x="9189720" y="3383280"/>
            <a:ext cx="502920" cy="457200"/>
          </a:xfrm>
          <a:prstGeom prst="right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own Arrow 67"/>
          <p:cNvSpPr/>
          <p:nvPr/>
        </p:nvSpPr>
        <p:spPr>
          <a:xfrm>
            <a:off x="5806440" y="5394959"/>
            <a:ext cx="548640" cy="292608"/>
          </a:xfrm>
          <a:prstGeom prst="downArrow">
            <a:avLst/>
          </a:prstGeom>
          <a:solidFill>
            <a:srgbClr val="B4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463040" y="5532120"/>
            <a:ext cx="92354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45920" y="5577840"/>
            <a:ext cx="8869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spc="200">
                <a:solidFill>
                  <a:srgbClr val="460073"/>
                </a:solidFill>
                <a:latin typeface="Calibri"/>
              </a:rPr>
              <a:t>PLUGGABLE ADAPTERS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645920" y="5897880"/>
            <a:ext cx="1686153" cy="347472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45920" y="5897880"/>
            <a:ext cx="168615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460073"/>
                </a:solidFill>
                <a:latin typeface="Calibri"/>
              </a:rPr>
              <a:t>Key Store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441801" y="5897880"/>
            <a:ext cx="1686153" cy="347472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41801" y="5897880"/>
            <a:ext cx="168615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460073"/>
                </a:solidFill>
                <a:latin typeface="Calibri"/>
              </a:rPr>
              <a:t>Spend Store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237683" y="5897880"/>
            <a:ext cx="1686153" cy="347472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37683" y="5897880"/>
            <a:ext cx="168615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460073"/>
                </a:solidFill>
                <a:latin typeface="Calibri"/>
              </a:rPr>
              <a:t>Pricing Source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033564" y="5897880"/>
            <a:ext cx="1686153" cy="347472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33564" y="5897880"/>
            <a:ext cx="168615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460073"/>
                </a:solidFill>
                <a:latin typeface="Calibri"/>
              </a:rPr>
              <a:t>Rules Source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829446" y="5897880"/>
            <a:ext cx="1686153" cy="347472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29446" y="5897880"/>
            <a:ext cx="168615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460073"/>
                </a:solidFill>
                <a:latin typeface="Calibri"/>
              </a:rPr>
              <a:t>Rate Limiter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THE FREEROUTER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How FreeRouter solves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Each pain point in AI adoption maps to a built-in capability - so leaders move from firefighting to forecasting.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5303520" cy="3657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468880"/>
            <a:ext cx="49743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>
                <a:solidFill>
                  <a:srgbClr val="5C5C5C"/>
                </a:solidFill>
                <a:latin typeface="Calibri"/>
              </a:rPr>
              <a:t>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468880"/>
            <a:ext cx="5303520" cy="3657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468880"/>
            <a:ext cx="49743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>
                <a:solidFill>
                  <a:srgbClr val="FFFFFF"/>
                </a:solidFill>
                <a:latin typeface="Calibri"/>
              </a:rPr>
              <a:t>FREEROUTER SOLVES IT 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44368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44368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Costs explode without warning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944368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44368"/>
            <a:ext cx="5303520" cy="77724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944368"/>
            <a:ext cx="54864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944368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60073"/>
                </a:solidFill>
                <a:latin typeface="Calibri"/>
              </a:rPr>
              <a:t>Five-tier budget cascade catches overspend before it happens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31336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31336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Teams use the most expensive model for everything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831336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831336"/>
            <a:ext cx="5303520" cy="77724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831336"/>
            <a:ext cx="54864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831336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60073"/>
                </a:solidFill>
                <a:latin typeface="Calibri"/>
              </a:rPr>
              <a:t>Routes batch and back-office work to cheaper, capable models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18304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18304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Finance can't tell who used what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718304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718304"/>
            <a:ext cx="5303520" cy="77724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718304"/>
            <a:ext cx="54864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718304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60073"/>
                </a:solidFill>
                <a:latin typeface="Calibri"/>
              </a:rPr>
              <a:t>Real-time spend tracking and ERP-ready chargeback reports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605272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605272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Provider outages break the business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605272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605272"/>
            <a:ext cx="5303520" cy="77724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5605272"/>
            <a:ext cx="54864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605272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60073"/>
                </a:solidFill>
                <a:latin typeface="Calibri"/>
              </a:rPr>
              <a:t>Automatic fallback across providers - no redeploy needed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49224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49224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Compliance changes take weeks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6492240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6492240"/>
            <a:ext cx="5303520" cy="77724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6492240"/>
            <a:ext cx="54864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649224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60073"/>
                </a:solidFill>
                <a:latin typeface="Calibri"/>
              </a:rPr>
              <a:t>Block models or update policies in seconds, live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FINOPS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How FreeRouter aligns to FinOps and its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Every FinOps principle maps to a built-in FreeRouter capability - delivered automatically, on every request, before the request leaves the building.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5303520" cy="3657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423160"/>
            <a:ext cx="49743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>
                <a:solidFill>
                  <a:srgbClr val="5C5C5C"/>
                </a:solidFill>
                <a:latin typeface="Calibri"/>
              </a:rPr>
              <a:t>FINOPS PRINCIPLE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423160"/>
            <a:ext cx="5303520" cy="3657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423160"/>
            <a:ext cx="49743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200">
                <a:solidFill>
                  <a:srgbClr val="FFFFFF"/>
                </a:solidFill>
                <a:latin typeface="Calibri"/>
              </a:rPr>
              <a:t>FREEROUTER CAPABILITY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880360"/>
            <a:ext cx="54864" cy="713232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5029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60073"/>
                </a:solidFill>
                <a:latin typeface="Calibri"/>
              </a:rPr>
              <a:t>See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880360"/>
            <a:ext cx="457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880360"/>
            <a:ext cx="5303520" cy="713232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880360"/>
            <a:ext cx="54864" cy="7132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880360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Live spend by user/team/dept/org, audit trail, ERP-ready chargeback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85032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85032"/>
            <a:ext cx="54864" cy="713232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685032"/>
            <a:ext cx="5029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60073"/>
                </a:solidFill>
                <a:latin typeface="Calibri"/>
              </a:rPr>
              <a:t>Own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685032"/>
            <a:ext cx="457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685032"/>
            <a:ext cx="5303520" cy="713232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685032"/>
            <a:ext cx="54864" cy="7132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685032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Five-tier budget cascade - global &gt; org &gt; dept &gt; team &gt; user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89704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489704"/>
            <a:ext cx="54864" cy="713232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489704"/>
            <a:ext cx="5029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60073"/>
                </a:solidFill>
                <a:latin typeface="Calibri"/>
              </a:rPr>
              <a:t>Optimize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489704"/>
            <a:ext cx="457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489704"/>
            <a:ext cx="5303520" cy="713232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489704"/>
            <a:ext cx="54864" cy="7132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489704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Cost-aware routing, cache-aware pricing, value-based rules engine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294376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294376"/>
            <a:ext cx="54864" cy="713232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294376"/>
            <a:ext cx="5029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60073"/>
                </a:solidFill>
                <a:latin typeface="Calibri"/>
              </a:rPr>
              <a:t>See it coming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294376"/>
            <a:ext cx="457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294376"/>
            <a:ext cx="5303520" cy="713232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5294376"/>
            <a:ext cx="54864" cy="7132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5294376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Burn-rate forecasting with on-track / at-risk / over-budget signals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099048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6099048"/>
            <a:ext cx="54864" cy="713232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6099048"/>
            <a:ext cx="5029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60073"/>
                </a:solidFill>
                <a:latin typeface="Calibri"/>
              </a:rPr>
              <a:t>Adapt continuously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6099048"/>
            <a:ext cx="4572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6099048"/>
            <a:ext cx="5303520" cy="713232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6099048"/>
            <a:ext cx="54864" cy="7132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6099048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Hot-reload pricing, rules, model blocks - via code or the admin GUI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ENTERPRISE &amp; CLOUD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How FreeRouter works in the enterprise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Zero infrastructure dependencies, zero third-party packages. FreeRouter deploys natively wherever the business already runs - container, serverless, or hybrid - and aligns with the identity, secrets, and persistence services each cloud already provides.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357835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3578352" cy="86868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59736"/>
            <a:ext cx="3578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3578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spc="150">
                <a:solidFill>
                  <a:srgbClr val="B455FF"/>
                </a:solidFill>
                <a:latin typeface="Calibri"/>
              </a:rPr>
              <a:t>Amazon Web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64992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64992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Runs in any container service: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49040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ECS, EKS, Fargate, App Runner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33088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33088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Serverless via Lambda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17136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17136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Spend persistence: DynamoDB or 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0118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901184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Secrets via AWS Secrets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85232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285232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Bedrock models routed alongside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1584" y="2331720"/>
            <a:ext cx="357835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1584" y="2331720"/>
            <a:ext cx="3578352" cy="86868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1584" y="2459736"/>
            <a:ext cx="3578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Azure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1584" y="2834640"/>
            <a:ext cx="3578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spc="150">
                <a:solidFill>
                  <a:srgbClr val="B455FF"/>
                </a:solidFill>
                <a:latin typeface="Calibri"/>
              </a:rPr>
              <a:t>Microsoft Azure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4464" y="3364992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3064" y="3364992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Runs on App Service or AKS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4464" y="374904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3064" y="3749040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Serverless via Azure Functions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4464" y="4133088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3064" y="4133088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Spend persistence: Cosmos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4464" y="4517136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3064" y="4517136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Secrets via Azure Key Vault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4464" y="490118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3064" y="4901184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Azure OpenAI routed natively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4464" y="5285232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3064" y="5285232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Microsoft Entra ID for identity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34528" y="2331720"/>
            <a:ext cx="357835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4528" y="2331720"/>
            <a:ext cx="3578352" cy="86868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34528" y="2459736"/>
            <a:ext cx="3578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GCP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34528" y="2834640"/>
            <a:ext cx="3578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spc="150">
                <a:solidFill>
                  <a:srgbClr val="B455FF"/>
                </a:solidFill>
                <a:latin typeface="Calibri"/>
              </a:rPr>
              <a:t>Google Cloud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7408" y="3364992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6008" y="3364992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Runs on Cloud Run or GKE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7408" y="374904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6008" y="3749040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Serverless via Cloud Functions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7408" y="4133088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46008" y="4133088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Spend persistence: Firestore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17408" y="4517136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46008" y="4517136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Secrets via Secret Manager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7408" y="490118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46008" y="4901184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Vertex AI / Gemini routed natively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17408" y="5285232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46008" y="5285232"/>
            <a:ext cx="30297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IAM via Workload Identity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" y="6126480"/>
            <a:ext cx="64008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61264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60073"/>
                </a:solidFill>
                <a:latin typeface="Calibri"/>
              </a:rPr>
              <a:t>Cloud-agnostic by design - the same library runs unchanged on AWS, Azure, and GCP, and routes to each cloud's native AI services alongside the public providers.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SECURITY POSTURE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How secure is FreeRouter?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Defence in depth across keys, requests, inputs, and operations. The full pattern catalogue and source references are in the README and FAQ appendices.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6400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05456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AES-256-GCM key vault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Every API key encrypted at rest with a per-user derived key. Plaintext is materialised only for the outbound request, then zero-filled.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37744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377440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377440"/>
            <a:ext cx="6400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505456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HMAC-SHA256 request signing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834640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Each request signed over user, model, content hash, and timestamp. Replay window enforced; constant-time verification.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22191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22191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22191"/>
            <a:ext cx="6400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50207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Prompt-injection 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79391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16 detection patterns + NFKD unicode normalization defeat ignore-previous-instructions, role-spoof, and encoded-injection attacks.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822191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822191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822191"/>
            <a:ext cx="6400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950207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Strict input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279391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Configurable input length cap; allowed-models gate; provider blocklist; default deny-list for non-sanctioned providers.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66944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266944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266944"/>
            <a:ext cx="6400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94960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Structured audit trail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724144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Every key event, request, block, and policy decision emits a typed entry to your sink - SOC 2, ISO, and internal review ready.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5266944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5266944"/>
            <a:ext cx="64008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5266944"/>
            <a:ext cx="6400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5394960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Secrets out of source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5724144"/>
            <a:ext cx="4434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BYOK keystore lives in a 0600 per-user file, never in JSON config or .env. Config Manager auth uses PBKDF2-HMAC-SHA256 (200k iters).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80B3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A100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CB0E6"/>
                </a:solidFill>
                <a:latin typeface="Calibri"/>
              </a:rPr>
              <a:t>Real-time visibility into who is spending what, on which model, for which purpose.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B455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1 -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Every request, fully attributed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FreeRouter records every interaction with full context - so leaders never have to ask "where did that bill come from?"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Live spend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529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Current spend by user, team, department, and organisation - available at any moment.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9184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4670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Audit trail by default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Every request, key change, and budget event is logged with who, what, when, and why.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7822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33088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3308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Chargeback-ready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2569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One click produces an ERP-ready breakdown - by team, by model, by provider, for any date range.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6460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19472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91947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Threshold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At 50%, 80%, 95% of budget - automated notifications go to the right people, before it's too late.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80B3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A100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Own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CB0E6"/>
                </a:solidFill>
                <a:latin typeface="Calibri"/>
              </a:rPr>
              <a:t>Budgets cascade from the enterprise down to the individual - accountability at every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B455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2 -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Budgets cascade through the organisation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A request must satisfy every budget above it. Engineering's overspend cannot consume the sales team's budget. Each layer protects the others.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5476" y="2468880"/>
            <a:ext cx="68580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65476" y="246888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Global enterprise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52928"/>
            <a:ext cx="121889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Calibri"/>
              </a:rPr>
              <a:t>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68396" y="3017520"/>
            <a:ext cx="5852160" cy="38404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8396" y="3017520"/>
            <a:ext cx="5852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Organisation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3401568"/>
            <a:ext cx="121889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Calibri"/>
              </a:rPr>
              <a:t>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1316" y="3566160"/>
            <a:ext cx="4846320" cy="384048"/>
          </a:xfrm>
          <a:prstGeom prst="rect">
            <a:avLst/>
          </a:prstGeom>
          <a:solidFill>
            <a:srgbClr val="B4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1316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Department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3950208"/>
            <a:ext cx="121889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Calibri"/>
              </a:rPr>
              <a:t>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4236" y="4114800"/>
            <a:ext cx="384048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4236" y="4114800"/>
            <a:ext cx="3840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60073"/>
                </a:solidFill>
                <a:latin typeface="Calibri"/>
              </a:rPr>
              <a:t>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4498848"/>
            <a:ext cx="121889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Calibri"/>
              </a:rPr>
              <a:t>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77156" y="4663440"/>
            <a:ext cx="2834640" cy="384048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7156" y="46634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60073"/>
                </a:solidFill>
                <a:latin typeface="Calibri"/>
              </a:rPr>
              <a:t>Individual user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64008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60073"/>
                </a:solidFill>
                <a:latin typeface="Calibri"/>
              </a:rPr>
              <a:t>Five tiers, all checked before every single request. No team can blow another team's budget.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2 -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When a budget is reached, choose your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Different teams need different protections. A research lab might warn; a customer-facing product must block. FreeRouter lets each policy decide.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18288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560320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560320"/>
            <a:ext cx="50292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2032" y="2560320"/>
            <a:ext cx="4864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FFFFFF"/>
                </a:solidFill>
                <a:latin typeface="Calibri"/>
              </a:rPr>
              <a:t>WHAT HAPPENS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560320"/>
            <a:ext cx="41148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2560320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4436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3814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44368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Block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94436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7440" y="343814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2944368"/>
            <a:ext cx="47000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Request is rejected immediately.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94436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343814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2" y="2944368"/>
            <a:ext cx="3785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Hard caps, customer billing protection.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4728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4106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447288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Downgrade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44728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77440" y="394106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42032" y="3447288"/>
            <a:ext cx="47000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Re-routed to a cheaper model so work continues.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44728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06640" y="394106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71232" y="3447288"/>
            <a:ext cx="3785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Keep services running on a smaller footprint.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95020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44398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3950208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Warn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395020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77440" y="444398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2032" y="3950208"/>
            <a:ext cx="47000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Request proceeds, a warning is logged.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395020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06640" y="444398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71232" y="3950208"/>
            <a:ext cx="3785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Internal teams who self-manage spend.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45312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94690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453128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Notify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45312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77440" y="494690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42032" y="4453128"/>
            <a:ext cx="47000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Triggers external alerts and dashboards.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445312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06640" y="494690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71232" y="4453128"/>
            <a:ext cx="3785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Slack, email, ticketing integration.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80B3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A100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Optimize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CB0E6"/>
                </a:solidFill>
                <a:latin typeface="Calibri"/>
              </a:rPr>
              <a:t>Spend the right amount on the right work. Pay premium prices only when premium quality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B455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3 -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Match the model to the moment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Not every task needs a flagship model. FreeRouter automatically routes lower-priority work to the most cost-effective option - without sacrificing quality on the work that matters.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Cheapest viable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For batch and back-office work, FreeRouter picks the lowest-cost model that meets the requirement.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Realtime stays 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Customer-facing, latency-sensitive requests always use the chosen flagship model - no surprises.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8678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41648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Cache-aware 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3425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When providers offer cached-input discounts, FreeRouter recognises and applies them automatically.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7316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28032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2803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Live pricing refresh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When providers change their rates, FreeRouter updates without a redeploy. Cost calculations stay accurate.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532120"/>
            <a:ext cx="64008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32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60073"/>
                </a:solidFill>
                <a:latin typeface="Calibri"/>
              </a:rPr>
              <a:t>Typical outcome: overnight batch jobs reduced from premium pricing to a fraction of the cost - often a 10x to 16x reduction.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3 -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When cost isn't the only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Sometimes quality, compliance, or business value override pure cost minimization. The Rules Engine lets leaders express those choices in plain business terms.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5440680" cy="182880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54864" cy="18288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3347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Legal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5074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Always uses the highest-quality model - contract review is no place to cut corners.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468880"/>
            <a:ext cx="5440680" cy="182880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468880"/>
            <a:ext cx="54864" cy="18288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3347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Marketing bulk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71800"/>
            <a:ext cx="5074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Defaults to the cheapest viable model - volume matters more than nuance.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80560"/>
            <a:ext cx="5440680" cy="182880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54864" cy="18288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4515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Code review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5074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Always uses a top-tier model regardless of team - quality protects the codebase.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480560"/>
            <a:ext cx="5440680" cy="182880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480560"/>
            <a:ext cx="54864" cy="18288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64515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Contractor accounts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83480"/>
            <a:ext cx="5074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Blocked from frontier models - controlled access, predictable cost.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532120"/>
            <a:ext cx="64008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60073"/>
                </a:solidFill>
                <a:latin typeface="Calibri"/>
              </a:rPr>
              <a:t>Rules can be updated by an admin in seconds - no engineering changes required.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80B3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A100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See it coming.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CB0E6"/>
                </a:solidFill>
                <a:latin typeface="Calibri"/>
              </a:rPr>
              <a:t>Forecast the future, not just the past. Catch budget risk before it becomes a budget overrun.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B455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4 -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Burn-rate forecasting, in plain English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FreeRouter doesn't just track today's spend - it projects where the team is heading, and flags trouble 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36118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460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460073"/>
                </a:solidFill>
                <a:latin typeface="Calibri"/>
              </a:rPr>
              <a:t>On track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468880"/>
            <a:ext cx="3611880" cy="502920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254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460073"/>
                </a:solidFill>
                <a:latin typeface="Calibri"/>
              </a:rPr>
              <a:t>At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468880"/>
            <a:ext cx="3611880" cy="502920"/>
          </a:xfrm>
          <a:prstGeom prst="roundRect">
            <a:avLst>
              <a:gd name="adj" fmla="val 50000"/>
            </a:avLst>
          </a:prstGeom>
          <a:solidFill>
            <a:srgbClr val="A100FF"/>
          </a:solidFill>
          <a:ln w="254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468880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Over 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9184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On 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844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Current burn rate suggests the team will end the month within budget. No action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78224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7822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708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Spend is trending toward the cap. Time to investigate, throttle non-critical use, or reset expectations.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0974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64608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6460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Over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15721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The forecast already exceeds the budget. Automated alerts fire so leaders can intervene immediately.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80B3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A100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Adapt continuously.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CB0E6"/>
                </a:solidFill>
                <a:latin typeface="Calibri"/>
              </a:rPr>
              <a:t>Markets move. Prices change. Policies shift. FinOps controls must keep up - without redeploying.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B455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5 - ADAPTABILITY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Change controls, not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A FinOps platform that requires an engineering ticket for every change is a FinOps platform no one uses. FreeRouter is designed for live changes by people who manage cost, not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Live pricing updates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Edit a pricing file, the change is picked up automatically. No restart, no redeploy.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Hot-reloadable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Add, remove, or adjust routing rules at runtime. Incident response in seconds.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8678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41648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Compliance hold, on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3425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Block or unblock any model instantly across all teams - without affecting historical reporting.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7316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28032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2803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Spend persistence across restarts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Budget counters survive system restarts. Accountability is never reset by accident.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PRINCIPLE 5 - ADAPTABILITY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A control panel for the people who own the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An optional desktop configuration manager lets platform admins update budgets, rules, providers, pricing, and environment variables - without opening a terminal, editing JSON, or filing an engineering ticket.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Standalone and optional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A separate desktop app, never bundled with the router. Adopt it, ignore it, or remove it - the platform behaves identically either way.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Admin-only, key-protected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Single-admin access secured by a generated key with a salted, hashed digest stored locally. No key, no GUI.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8678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41648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Validated, atomic edits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3425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Every save runs the same structural checks the runtime uses; bad inputs are rejected before any file is written.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7316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28032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2803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Local-only, cross-platform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Runs on Linux, macOS, and Windows. No network surface, no listening port - purely a file editor with guard rails.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The five principles, working as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FreeRouter applies all five FinOps principles to every single AI request - automatically, before the request leaves the building.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See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Real-time spend, audit trail, chargeback reports.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Own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Five-tier budget cascade - no team blows another team's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8678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41648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Optimize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3425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Cost-aware routing for batch work; quality-first routing where it matters.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7316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28032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2803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See it coming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Burn-rate forecasting flags trouble days before it hits the budget.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59552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614416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614416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Adapt continuously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90702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Live pricing, live rules, live policy - managed by admins, not engineers, through code or the optional configuration manager.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80B3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A100FF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Optimize beyond rules.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CB0E6"/>
                </a:solidFill>
                <a:latin typeface="Calibri"/>
              </a:rPr>
              <a:t>Use GEPA's reflective LLM optimization to make cheaper models smart enough for hard tasks -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B455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GEPA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Optimization that learns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The five FinOps principles set the rules. GEPA finds the best move within those rules - and improves it every week from your own telemetry.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6400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3347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Offline config evolution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GEPA evolves admin rules, candidate-model lists, and budget thresholds against real historical telemetry. The replay uses FreeRouter's own routing code - parity by construction.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46888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46888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468880"/>
            <a:ext cx="6400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63347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Per-request prompt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971800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For high-value request classes, GEPA evolves a system prompt that makes a cheap model match the reference model's quality. Templates are cached per class and reused.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6400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7083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Shadow canary, never live-fire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09160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Every candidate config runs in parallel with the live router first - logged, never served. Adoption only after the shadow's KPIs clear the bar.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20624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206240"/>
            <a:ext cx="640080" cy="15544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4206240"/>
            <a:ext cx="64008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37083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60073"/>
                </a:solidFill>
                <a:latin typeface="Calibri"/>
              </a:rPr>
              <a:t>Closed-loop ROI ledger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709160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Realized savings tracked per class. Classes whose optimization cost exceeds savings are auto-disabled for a cooldown window - no manual cleanup.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GEPA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Per-request mode, with 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Per-request optimization explicitly waives the 50ms SLA when triggered - but the gate, ledger, and quality machinery ensure it only triggers where the trade is genuinely worth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Complexity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9-feature heuristic (tokens, instructions, code, reasoning, format, constraints, references). Most traffic skips GEPA entirely - it only fires when expected ROI clears the threshold.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Direct / Optimize /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Three outcomes: cheap model direct (low complexity), GEPA-optimized prompt + cheap model (high ROI), or premium model (high risk, low reuse) - whichever maximizes value.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86784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41648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Quality gate before adopt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3425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LLM judge with pairwise + position-swap evaluation rejects any template that scores below the floor against held-out reference outputs. Wrong-but-fluent is impossible to 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73168"/>
            <a:ext cx="10972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28032"/>
            <a:ext cx="365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2803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Cost-bounded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Calibri"/>
              </a:rPr>
              <a:t>Reflection USD, optimization wall-time, and per-class break-even caps enforced at the sidecar. Fail-closed routing to the premium model if any budget is exceeded.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solidFill>
            <a:srgbClr val="F2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532120"/>
            <a:ext cx="64008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32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60073"/>
                </a:solidFill>
                <a:latin typeface="Calibri"/>
              </a:rPr>
              <a:t>Opt-in only. When disabled, zero new code runs on the request path - 50KB bundle and 50ms SLA are preserved.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28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5C5C5C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A100FF"/>
                </a:solidFill>
                <a:latin typeface="Calibri"/>
              </a:rPr>
              <a:t>GEPA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Calibri"/>
              </a:rPr>
              <a:t>What this changes for the business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6400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GEPA doesn't replace FinOps - it extends it. The principles still govern what's allowed; GEPA finds the cheapest legal path through them, request by request.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18288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468880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FFFFFF"/>
                </a:solidFill>
                <a:latin typeface="Calibri"/>
              </a:rPr>
              <a:t>WORKLOAD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468880"/>
            <a:ext cx="50292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2032" y="2468880"/>
            <a:ext cx="4864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FFFFFF"/>
                </a:solidFill>
                <a:latin typeface="Calibri"/>
              </a:rPr>
              <a:t>PRE-GEPA SPEND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468880"/>
            <a:ext cx="4114800" cy="38404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2468880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FFFFFF"/>
                </a:solidFill>
                <a:latin typeface="Calibri"/>
              </a:rPr>
              <a:t>POST-GEPA 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5292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34670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52928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Long-tail batch summarization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85292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7440" y="334670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2852928"/>
            <a:ext cx="47000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Flagship model on every request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85292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334670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2" y="2852928"/>
            <a:ext cx="3785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Cheap model + optimized template - quality matched, ~90% cost reduction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5584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84962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355848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Code review and reasoning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35584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77440" y="384962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42032" y="3355848"/>
            <a:ext cx="47000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Flagship for everything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35584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06640" y="384962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71232" y="3355848"/>
            <a:ext cx="3785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Gate routes only the genuinely hard prompts to the flagship; cheap handles the rest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85876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35254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3858768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Customer-facing realtime chat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385876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77440" y="435254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2032" y="3858768"/>
            <a:ext cx="47000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Flagship for everything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385876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06640" y="435254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71232" y="3858768"/>
            <a:ext cx="3785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Unchanged - the gate's 'direct-fallback' rule protects realtime SLA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36168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855464"/>
            <a:ext cx="1828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361688"/>
            <a:ext cx="1499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60073"/>
                </a:solidFill>
                <a:latin typeface="Calibri"/>
              </a:rPr>
              <a:t>Risky / one-shot requests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36168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77440" y="4855464"/>
            <a:ext cx="50292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42032" y="4361688"/>
            <a:ext cx="47000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Flagship for everything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4361688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06640" y="4855464"/>
            <a:ext cx="4114800" cy="914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71232" y="4361688"/>
            <a:ext cx="378561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Gate detects low-reuse and goes straight to flagship - never wastes GEPA on a one-off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00">
                <a:solidFill>
                  <a:srgbClr val="5C5C5C"/>
                </a:solidFill>
                <a:latin typeface="Calibri"/>
              </a:rPr>
              <a:t>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spc="200">
                <a:solidFill>
                  <a:srgbClr val="999999"/>
                </a:solidFill>
                <a:latin typeface="Calibri"/>
              </a:rPr>
              <a:t>ACCENTURE  |  FREEROUTER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Calibri"/>
              </a:rPr>
              <a:t>FinOps for AI,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>
                <a:solidFill>
                  <a:srgbClr val="A100FF"/>
                </a:solidFill>
                <a:latin typeface="Calibri"/>
              </a:rPr>
              <a:t>built in from day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latin typeface="Calibri"/>
              </a:rPr>
              <a:t>Predictable spending. Clear accountability. Real optimization. Without slowing the business 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5989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2800" b="1">
                <a:solidFill>
                  <a:srgbClr val="A100FF"/>
                </a:solidFill>
                <a:latin typeface="Calibri"/>
              </a:rPr>
              <a:t>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