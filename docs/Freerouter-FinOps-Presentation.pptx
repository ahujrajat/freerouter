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60073"/>
              </a:gs>
              <a:gs pos="100000">
                <a:srgbClr val="A100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CCB0E6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82296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Calibri"/>
              </a:rPr>
              <a:t>Spending Smarter on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6D9F2"/>
                </a:solidFill>
                <a:latin typeface="Calibri"/>
              </a:rPr>
              <a:t>The FinOps principles built into FreeRouter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spc="200">
                <a:solidFill>
                  <a:srgbClr val="CCB0E6"/>
                </a:solidFill>
                <a:latin typeface="Calibri"/>
              </a:rPr>
              <a:t>A NON-TECHNICAL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FFFF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INTRODUCING FREEROUTER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is FreeRouter?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is an enterprise-grade routing layer for AI that gives leaders control over spending, security, and provider choice - all in one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A smart gateway for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7180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FreeRouter sits between your applications and the AI providers - every request flows through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6888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63347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Multi-provider, by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7180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Works with OpenAI, Anthropic, Google Gemini, Mistral, and more - swap or combine without redeploying.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7083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Bring Your Own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70916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Each user supplies their own AI provider key. Keys are encrypted and never logged or exposed.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206240"/>
            <a:ext cx="5440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0" y="4206240"/>
            <a:ext cx="6400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70832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Embed it, don't host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4709160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 lightweight library that drops into your existing applications - no extra infrastructure to operate.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is put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single embeddable library: every request flows from your applications, through FreeRouter's security and routing engine, out to the chosen AI provider - with pluggable adapters for storage and pricing.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237744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spc="20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600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8600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Application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88036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88036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OpenAI-compatible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7472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474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BYOK key registration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6908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69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Command-line interface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1828800"/>
            <a:ext cx="6126480" cy="3520440"/>
          </a:xfrm>
          <a:prstGeom prst="rect">
            <a:avLst/>
          </a:prstGeom>
          <a:solidFill>
            <a:srgbClr val="F2E6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17520" y="1828800"/>
            <a:ext cx="6126480" cy="36576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182880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spc="250">
                <a:solidFill>
                  <a:srgbClr val="FFFFFF"/>
                </a:solidFill>
                <a:latin typeface="Calibri"/>
              </a:rPr>
              <a:t>FREEROUTER 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331720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2331720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Security &amp; Trust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59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64023" y="2331720"/>
            <a:ext cx="1258824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Encrypted Key Vault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0864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05728" y="2331720"/>
            <a:ext cx="1258824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Prompt Safety Check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92567" y="2331720"/>
            <a:ext cx="136855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47432" y="2331720"/>
            <a:ext cx="1258824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Request Signing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3319272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6120" y="3319272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Smart Routing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59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64023" y="3319272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Routing Rules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90438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5301" y="3319272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Budget Guardrails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71716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26579" y="3319272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Cost-Aware Routing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2994" y="3319272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7858" y="3319272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Rate Limiting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306824"/>
            <a:ext cx="1417320" cy="96012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46120" y="4306824"/>
            <a:ext cx="13258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Visibility &amp; Control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9159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64023" y="4306824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Audit Trail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0438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45301" y="4306824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Live Metrics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71716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26579" y="4306824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Spend Tracking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2994" y="4306824"/>
            <a:ext cx="1008126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7858" y="4306824"/>
            <a:ext cx="898398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460073"/>
                </a:solidFill>
                <a:latin typeface="Calibri"/>
              </a:rPr>
              <a:t>Burn-Rate Forecast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418320" y="1828800"/>
            <a:ext cx="237744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0" y="1828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spc="200">
                <a:solidFill>
                  <a:srgbClr val="FFFFFF"/>
                </a:solidFill>
                <a:latin typeface="Calibri"/>
              </a:rPr>
              <a:t>AI PROVIDERS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228600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20" y="228600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82912" y="228600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OpenAI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288036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18320" y="288036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82912" y="288036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Anthropic (Claude)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18320" y="347472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18320" y="347472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82912" y="3474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Google Gemini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8320" y="406908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20" y="406908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82912" y="4069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Mistral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8320" y="4663440"/>
            <a:ext cx="2377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418320" y="4663440"/>
            <a:ext cx="54864" cy="5029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82912" y="46634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Groq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2788920" y="3383280"/>
            <a:ext cx="502920" cy="45720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Arrow 66"/>
          <p:cNvSpPr/>
          <p:nvPr/>
        </p:nvSpPr>
        <p:spPr>
          <a:xfrm>
            <a:off x="9189720" y="3383280"/>
            <a:ext cx="502920" cy="457200"/>
          </a:xfrm>
          <a:prstGeom prst="rightArrow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own Arrow 67"/>
          <p:cNvSpPr/>
          <p:nvPr/>
        </p:nvSpPr>
        <p:spPr>
          <a:xfrm>
            <a:off x="5806440" y="5394959"/>
            <a:ext cx="548640" cy="292608"/>
          </a:xfrm>
          <a:prstGeom prst="downArrow">
            <a:avLst/>
          </a:prstGeom>
          <a:solidFill>
            <a:srgbClr val="B4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463040" y="5532120"/>
            <a:ext cx="923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B45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45920" y="5577840"/>
            <a:ext cx="8869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200">
                <a:solidFill>
                  <a:srgbClr val="460073"/>
                </a:solidFill>
                <a:latin typeface="Calibri"/>
              </a:rPr>
              <a:t>PLUGGABLE ADAPTERS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645920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45920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Key Store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41801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41801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Spend Store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237683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237683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Pricing Source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033564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33564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Rules Source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29446" y="5897880"/>
            <a:ext cx="1686153" cy="347472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127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29446" y="5897880"/>
            <a:ext cx="1686153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60073"/>
                </a:solidFill>
                <a:latin typeface="Calibri"/>
              </a:rPr>
              <a:t>Rate Limiter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THE FREEROUTER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How FreeRouter solves 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Each pain point in AI adoption maps to a built-in capability - so leaders move from firefighting to forecasting.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303520" cy="3657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68880"/>
            <a:ext cx="4974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200">
                <a:solidFill>
                  <a:srgbClr val="5C5C5C"/>
                </a:solidFill>
                <a:latin typeface="Calibri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468880"/>
            <a:ext cx="5303520" cy="36576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468880"/>
            <a:ext cx="4974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200">
                <a:solidFill>
                  <a:srgbClr val="FFFFFF"/>
                </a:solidFill>
                <a:latin typeface="Calibri"/>
              </a:rPr>
              <a:t>FREEROUTER SOLVES IT BY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44368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44368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Costs explode without warning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944368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44368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944368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944368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Five-tier budget cascade catches overspend before it happens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31336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31336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Teams use the most expensive model for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31336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831336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831336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831336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Routes batch and back-office work to cheaper, capable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718304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718304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Finance can't tell who used what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718304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718304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718304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718304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Real-time spend tracking and ERP-ready chargeback reports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605272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60527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Provider outages break the business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605272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605272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5605272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60527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Automatic fallback across providers - no redeploy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92240"/>
            <a:ext cx="5303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Compliance changes take weeks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0" y="6492240"/>
            <a:ext cx="457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6492240"/>
            <a:ext cx="5303520" cy="77724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6492240"/>
            <a:ext cx="54864" cy="77724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6492240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60073"/>
                </a:solidFill>
                <a:latin typeface="Calibri"/>
              </a:rPr>
              <a:t>Block models or update policies in seconds, 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BUILT FOR THE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Why FreeRouter works at enterprise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Large organisations need controls that match how they actually operate - with multiple teams, strict compliance, and zero tolerance for downtime.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Hierarchical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Budgets and policies cascade through org &gt; department &gt; team &gt; user. Every layer has visibility and control over what sits beneath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Audit-ready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Every key change, every request, every policy decision is logged in a structured audit trail - ready for SOC 2, ISO, and internal review.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1856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71856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8315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Compliance and legal holds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21480"/>
            <a:ext cx="5074920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Block any model instantly across all teams when legal or compliance raises a concern. No emergency redeploys, no downtime.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1856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1856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88315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Chargeback to ERP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21480"/>
            <a:ext cx="5074920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Generate breakdowns by team, department, model, and provider for any date range - feed them straight into existing finance systems.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6824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96824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13283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Zero new dependencies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71160"/>
            <a:ext cx="5074920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Built with no third-party packages - no new supply-chain risk, no transitive vulnerabilities for security teams to track.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968240"/>
            <a:ext cx="5440680" cy="1066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968240"/>
            <a:ext cx="54864" cy="1066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13283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Hot-reload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471160"/>
            <a:ext cx="5074920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Pricing, rules, models, providers - all updatable at runtime by platform admins, with no engineering ticket required.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CLOUD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Runs anywhere your business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has zero infrastructure dependencies, so it deploys natively on every major cloud platform - and routes to that cloud's native AI services too.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05456"/>
            <a:ext cx="35783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3578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Amazon Web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1071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in any container service: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94760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94760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ECS, EKS, Fargate, App Runner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78808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78808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Lambda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62856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562856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DynamoDB or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46904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46904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AWS Secrets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3095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Bedrock models routed alongside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1584" y="237744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1584" y="237744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1584" y="2505456"/>
            <a:ext cx="35783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Azure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1584" y="2880360"/>
            <a:ext cx="3578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Microsoft Azure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4464" y="341071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3064" y="341071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on App Service or AKS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4464" y="3794760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3064" y="3794760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Azure Functions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4464" y="4178808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3064" y="4178808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Cosmos 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4464" y="4562856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3064" y="4562856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Azure Key Vault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4464" y="4946904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3064" y="4946904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Azure OpenAI routed natively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4464" y="533095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3064" y="533095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Microsoft Entra ID for identity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34528" y="2377440"/>
            <a:ext cx="3578352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34528" y="2377440"/>
            <a:ext cx="3578352" cy="86868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34528" y="2505456"/>
            <a:ext cx="35783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GCP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34528" y="2880360"/>
            <a:ext cx="3578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spc="150">
                <a:solidFill>
                  <a:srgbClr val="B455FF"/>
                </a:solidFill>
                <a:latin typeface="Calibri"/>
              </a:rPr>
              <a:t>Google Cloud Platform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7408" y="341071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6008" y="341071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Runs on Cloud Run or GKE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7408" y="3794760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46008" y="3794760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Serverless via Cloud Functions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7408" y="4178808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6008" y="4178808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Spend persistence: Firestore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17408" y="4562856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46008" y="4562856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Secrets via Secret Manager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17408" y="4946904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6008" y="4946904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Vertex AI / Gemini routed natively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7408" y="5330952"/>
            <a:ext cx="228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6008" y="5330952"/>
            <a:ext cx="30297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Calibri"/>
              </a:rPr>
              <a:t>IAM via Workload Identity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61722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8640" y="61722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" y="61722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FreeRouter is cloud-agnostic - the same library runs unchanged across AWS, Azure, and GCP.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AI costs can spiral overnight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When teams use large language models, a single mistake - a runaway loop, an over-eager experiment - can burn through a month's budget in minutes. Without controls, leaders are forced to choose between innovation and predictability.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78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$$$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Unbounded spend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93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No caps means no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0832" y="2578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accountability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3493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Who used what, and why?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2377440"/>
            <a:ext cx="3657600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3657600" cy="54864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578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460073"/>
                </a:solidFill>
                <a:latin typeface="Calibri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246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Reactive, not proactive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4" y="3493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C5C5C"/>
                </a:solidFill>
                <a:latin typeface="Calibri"/>
              </a:rPr>
              <a:t>Surprises arrive at month-end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148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114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FreeRouter applies proven FinOps principles to AI spend - turning a cost surprise into a cost strategy.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What is FinOps?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FinOps is the discipline of bringing financial accountability to variable, on-demand spending. It is built on four simple ideas.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1. See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Every dollar should be visible - by team, by user, by use case - in real time, not at month-end.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2. Own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The teams using AI should be the teams accountable for the spend. Budgets cascade from the top 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4515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3. Optimize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Spend the right amount on the right work - no more, no less. Premium models for premium tasks.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4. Adapt continuously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8348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Prices change, priorities shift, models evolve. Controls must update without redeploying systems.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Real-time visibility into who is spending what, on which model, for which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1 - VISIBILITY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Every request, fully attributed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records every interaction with full context - so leaders never have to ask "where did that bill come from?"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spend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529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Current spend by user, team, department, and organisation - available at any moment.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467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Audit trail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3931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Every request, key change, and budget event is logged with who, what, when, and why.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07822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3308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Chargeback-ready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569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One click produces an ERP-ready breakdown - by team, by model, by provider, for any date range.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6460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1947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Threshold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212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At 50%, 80%, 95% of budget - automated notifications go to the right people, before it's too late.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Own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Budgets cascade from the enterprise down to the individual - accountability at every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2 -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Budgets cascade through the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request must satisfy every budget above it. Engineering's overspend cannot consume the sales team's budget. Each layer protects the others.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5476" y="2468880"/>
            <a:ext cx="68580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5476" y="2468880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Global enterprise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52928"/>
            <a:ext cx="121889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68396" y="3017520"/>
            <a:ext cx="5852160" cy="38404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8396" y="301752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Organisation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3401568"/>
            <a:ext cx="121889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1316" y="3566160"/>
            <a:ext cx="4846320" cy="384048"/>
          </a:xfrm>
          <a:prstGeom prst="rect">
            <a:avLst/>
          </a:prstGeom>
          <a:solidFill>
            <a:srgbClr val="B45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1316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Department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3950208"/>
            <a:ext cx="121889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4236" y="4114800"/>
            <a:ext cx="38404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74236" y="4114800"/>
            <a:ext cx="3840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460073"/>
                </a:solidFill>
                <a:latin typeface="Calibri"/>
              </a:rPr>
              <a:t>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4498848"/>
            <a:ext cx="1218895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5C5C5C"/>
                </a:solidFill>
                <a:latin typeface="Calibri"/>
              </a:rPr>
              <a:t>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77156" y="4663440"/>
            <a:ext cx="2834640" cy="384048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7156" y="4663440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460073"/>
                </a:solidFill>
                <a:latin typeface="Calibri"/>
              </a:rPr>
              <a:t>Individual user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48640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Five tiers, all checked before every single request. No team can blow another team's budget.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2 -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When a budget is reached, choose your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Different teams need different protections. A research lab might warn; a customer-facing product must block. FreeRouter lets each policy decide.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1828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60320"/>
            <a:ext cx="1664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560320"/>
            <a:ext cx="50292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42032" y="2560320"/>
            <a:ext cx="48646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WHAT HAPPENS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560320"/>
            <a:ext cx="4114800" cy="384048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2" y="2560320"/>
            <a:ext cx="3950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FFFFFF"/>
                </a:solidFill>
                <a:latin typeface="Calibri"/>
              </a:rPr>
              <a:t>BEST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4436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94436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Block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294436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40" y="343814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294436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Request is rejected immediately.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94436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343814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71232" y="294436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Hard caps, customer billing protection.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4728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94106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44728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Downgrade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44728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7440" y="394106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344728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Re-routed to a cheaper model so work continues.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44728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394106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71232" y="344728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Keep services running on a smaller footprint.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95020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44398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95020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Warn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395020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77440" y="444398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2032" y="395020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Request proceeds, a warning is logged.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395020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06640" y="444398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71232" y="395020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Internal teams who self-manage spend.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828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4946904"/>
            <a:ext cx="1828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4453128"/>
            <a:ext cx="1499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460073"/>
                </a:solidFill>
                <a:latin typeface="Calibri"/>
              </a:rPr>
              <a:t>Notify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0" y="445312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77440" y="4946904"/>
            <a:ext cx="50292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42032" y="4453128"/>
            <a:ext cx="47000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Triggers external alerts and dashboards.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453128"/>
            <a:ext cx="4114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06640" y="4946904"/>
            <a:ext cx="4114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71232" y="4453128"/>
            <a:ext cx="37856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Slack, email, ticketing integration.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Optimize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Spend the right amount on the right work. Pay premium prices only when premium quality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3 -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Match the model to the moment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Not every task needs a flagship model. FreeRouter automatically routes lower-priority work to the most cost-effective option - without sacrificing quality on the work that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Cheapest viable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For batch and back-office work, FreeRouter picks the lowest-cost model that meets the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Realtime stays premium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Customer-facing, latency-sensitive requests always use the chosen flagship model - no surprises.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Cache-aware pricing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When providers offer cached-input discounts, FreeRouter recognises and applies them automatically.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pricing refresh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When providers change their rates, FreeRouter updates without a redeploy. Cost calculations stay accurate.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Typical outcome: overnight batch jobs reduced from premium pricing to a fraction of the cost - often a 10x to 16x reduction.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3 -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When cost isn't the only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Sometimes quality, compliance, or business value override pure cost minimization. The Rules Engine lets leaders express those choices in plain business terms.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Legal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Always uses the highest-quality model - contract review is no place to cut corners.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46888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6334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Marketing bulk content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7180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Defaults to the cheapest viable model - volume matters more than nuance.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4515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Code review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8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Always uses a top-tier model regardless of team - quality protects the codebase.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480560"/>
            <a:ext cx="5440680" cy="182880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480560"/>
            <a:ext cx="54864" cy="18288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64515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60073"/>
                </a:solidFill>
                <a:latin typeface="Calibri"/>
              </a:rPr>
              <a:t>Contractor accounts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83480"/>
            <a:ext cx="5074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Calibri"/>
              </a:rPr>
              <a:t>Blocked from frontier models - controlled access, predictable cost.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solidFill>
            <a:srgbClr val="F2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532120"/>
            <a:ext cx="64008" cy="64008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460073"/>
                </a:solidFill>
                <a:latin typeface="Calibri"/>
              </a:rPr>
              <a:t>Rules can be updated by an admin in seconds - no engineering changes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See it coming.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Forecast the future, not just the past. Catch budget risk before it becomes a budget overrun.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4 -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Burn-rate forecasting, in plain English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doesn't just track today's spend - it projects where the team is heading, and flags trouble early.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460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460073"/>
                </a:solidFill>
                <a:latin typeface="Calibri"/>
              </a:rPr>
              <a:t>On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F2E6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46888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460073"/>
                </a:solidFill>
                <a:latin typeface="Calibri"/>
              </a:rPr>
              <a:t>At risk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468880"/>
            <a:ext cx="3611880" cy="502920"/>
          </a:xfrm>
          <a:prstGeom prst="roundRect">
            <a:avLst>
              <a:gd name="adj" fmla="val 50000"/>
            </a:avLst>
          </a:prstGeom>
          <a:solidFill>
            <a:srgbClr val="A100FF"/>
          </a:solidFill>
          <a:ln w="25400">
            <a:solidFill>
              <a:srgbClr val="A1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468880"/>
            <a:ext cx="3611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Over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918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On 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Current burn rate suggests the team will end the month within budget. No action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07822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7083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Spend is trending toward the cap. Time to investigate, throttle non-critical use, or reset expectations.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0974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6460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646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Over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15721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The forecast already exceeds the budget. Automated alerts fire so leaders can intervene immediately.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80B3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1">
                <a:solidFill>
                  <a:srgbClr val="A100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Adapt continuously.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CB0E6"/>
                </a:solidFill>
                <a:latin typeface="Calibri"/>
              </a:rPr>
              <a:t>Markets move. Prices change. Policies shift. FinOps controls must keep up - without redeploying.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B455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PRINCIPLE 5 - ADAPTABILITY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Change controls, not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A FinOps platform that requires an engineering ticket for every change is a FinOps platform no one uses. FreeRouter is designed for live changes by people who manage cost, not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Live pricing updates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Edit a pricing file, the change is picked up automatically. No restart, no redeploy.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Hot-reloadable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Add, remove, or adjust routing rules at runtime. Incident response in seconds.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Compliance hold, on 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Block or unblock any model instantly across all teams - without affecting historical reporting.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Spend persistence across restarts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Budget counters survive system restarts. Accountability is never reset by accident.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2286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5C5C5C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A100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Calibri"/>
              </a:rPr>
              <a:t>The five principles, working as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" cy="6400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FreeRouter applies all five FinOps principles to every single AI request - automatically, before the request leaves the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688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61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Real-time spend, audit trail, chargeback reports.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00400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255264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Own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4787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Five-tier budget cascade - no team blows another team's budget.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6784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41648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Optimize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334256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Cost-aware routing for batch work; quality-first routing where it matters.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73168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28032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280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See it coming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Burn-rate forecasting flags trouble days before it hits the budget.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59552"/>
            <a:ext cx="10972800" cy="914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614416"/>
            <a:ext cx="3657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6144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60073"/>
                </a:solidFill>
                <a:latin typeface="Calibri"/>
              </a:rPr>
              <a:t>Adapt continuously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907024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Calibri"/>
              </a:rPr>
              <a:t>Live pricing, live rules, live policy - managed by admins, not engineers.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126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spc="100">
                <a:solidFill>
                  <a:srgbClr val="5C5C5C"/>
                </a:solidFill>
                <a:latin typeface="Calibri"/>
              </a:rPr>
              <a:t>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999999"/>
                </a:solidFill>
                <a:latin typeface="Calibri"/>
              </a:rPr>
              <a:t>ACCENTURE  |  FREEROUTER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FinOps for AI,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>
                <a:solidFill>
                  <a:srgbClr val="A100FF"/>
                </a:solidFill>
                <a:latin typeface="Calibri"/>
              </a:rPr>
              <a:t>built in from day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CCCCCC"/>
                </a:solidFill>
                <a:latin typeface="Calibri"/>
              </a:rPr>
              <a:t>Predictable spending. Clear accountability. Real optimization. Without slowing the business 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5989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/>
            <a:r>
              <a:rPr sz="2800" b="1">
                <a:solidFill>
                  <a:srgbClr val="A100FF"/>
                </a:solidFill>
                <a:latin typeface="Calibri"/>
              </a:rPr>
              <a:t>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