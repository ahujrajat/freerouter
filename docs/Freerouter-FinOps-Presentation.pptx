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59"/>
  </p:normalViewPr>
  <p:slideViewPr>
    <p:cSldViewPr snapToGrid="0" snapToObjects="1">
      <p:cViewPr>
        <p:scale>
          <a:sx n="110" d="100"/>
          <a:sy n="110" d="100"/>
        </p:scale>
        <p:origin x="2456" y="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60073"/>
              </a:gs>
              <a:gs pos="100000">
                <a:srgbClr val="A100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CCB0E6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82296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Calibri"/>
              </a:rPr>
              <a:t>Spending Smarter on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E6D9F2"/>
                </a:solidFill>
                <a:latin typeface="Calibri"/>
              </a:rPr>
              <a:t>The FinOps principles built into FreeRouter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spc="200">
                <a:solidFill>
                  <a:srgbClr val="CCB0E6"/>
                </a:solidFill>
                <a:latin typeface="Calibri"/>
              </a:rPr>
              <a:t>A NON-TECHNICAL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FFFF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INTRODUCING FREEROUTER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What is FreeRouter?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is an enterprise-grade routing layer for AI that gives leaders control over spending, security, and provider choice - all in one place.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A smart gateway for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7180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FreeRouter sits between your applications and the AI providers - every request flows through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63347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Multi-provider, by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7180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Works with OpenAI, Anthropic, Google Gemini, Mistral, and more - swap or combine without redeploying.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7083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Bring Your Own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709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Each user supplies their own AI provider key. Keys are encrypted and never logged or exposed.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37083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Embed it, don't host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709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 lightweight library that drops into your existing applications - no extra infrastructure to operate.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FreeRouter is put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single embeddable library: every request flows from your applications, through FreeRouter's security and routing engine, out to the chosen AI provider - with pluggable adapters for storage and pricing.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237744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spc="20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8600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2860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Application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6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88036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OpenAI-compatible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7472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47472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BYOK key registration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6908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6908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Command-line interface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1828800"/>
            <a:ext cx="6126480" cy="3520440"/>
          </a:xfrm>
          <a:prstGeom prst="rect">
            <a:avLst/>
          </a:prstGeom>
          <a:solidFill>
            <a:srgbClr val="F2E6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17520" y="1828800"/>
            <a:ext cx="6126480" cy="3657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017520" y="1828800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spc="250">
                <a:solidFill>
                  <a:srgbClr val="FFFFFF"/>
                </a:solidFill>
                <a:latin typeface="Calibri"/>
              </a:rPr>
              <a:t>FREEROUTER 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331720"/>
            <a:ext cx="1417320" cy="9601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46120" y="2331720"/>
            <a:ext cx="132588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Security &amp; Trust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59" y="2331720"/>
            <a:ext cx="1368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64023" y="2331720"/>
            <a:ext cx="1258824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Encrypted Key Vault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0864" y="2331720"/>
            <a:ext cx="1368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05728" y="2331720"/>
            <a:ext cx="1258824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Prompt Safety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92567" y="2331720"/>
            <a:ext cx="1368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47432" y="2331720"/>
            <a:ext cx="1258824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Request Signing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3319272"/>
            <a:ext cx="1417320" cy="9601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46120" y="3319272"/>
            <a:ext cx="132588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Smart Routing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59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64023" y="3319272"/>
            <a:ext cx="898398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Routing Rules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90438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45301" y="3319272"/>
            <a:ext cx="898398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Budget Guardrails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71716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26579" y="3319272"/>
            <a:ext cx="898398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Cost-Aware Routing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2994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07858" y="3319272"/>
            <a:ext cx="898398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Rate Limiting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306824"/>
            <a:ext cx="1417320" cy="9601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46120" y="4306824"/>
            <a:ext cx="132588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Visibility &amp; Control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9159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023" y="4306824"/>
            <a:ext cx="898398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Audit Trail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0438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45301" y="4306824"/>
            <a:ext cx="898398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Live Metrics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71716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26579" y="4306824"/>
            <a:ext cx="898398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Spend Tracking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2994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07858" y="4306824"/>
            <a:ext cx="898398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Burn-Rate Forecast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418320" y="1828800"/>
            <a:ext cx="237744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18320" y="18288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spc="200">
                <a:solidFill>
                  <a:srgbClr val="FFFFFF"/>
                </a:solidFill>
                <a:latin typeface="Calibri"/>
              </a:rPr>
              <a:t>AI PROVIDERS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228600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9418320" y="228600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582912" y="22860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OpenAI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288036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18320" y="288036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582912" y="288036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Anthropic (Claude)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18320" y="347472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9418320" y="347472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582912" y="347472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Google Gemini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18320" y="406908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9418320" y="406908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582912" y="406908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Mistral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18320" y="466344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418320" y="466344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582912" y="466344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Groq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2788920" y="3383280"/>
            <a:ext cx="228600" cy="45720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ight Arrow 66"/>
          <p:cNvSpPr/>
          <p:nvPr/>
        </p:nvSpPr>
        <p:spPr>
          <a:xfrm>
            <a:off x="9189720" y="3383280"/>
            <a:ext cx="228600" cy="45720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Down Arrow 67"/>
          <p:cNvSpPr/>
          <p:nvPr/>
        </p:nvSpPr>
        <p:spPr>
          <a:xfrm>
            <a:off x="5806440" y="5394959"/>
            <a:ext cx="548640" cy="292608"/>
          </a:xfrm>
          <a:prstGeom prst="downArrow">
            <a:avLst/>
          </a:prstGeom>
          <a:solidFill>
            <a:srgbClr val="B4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1463040" y="5532120"/>
            <a:ext cx="923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B45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645920" y="5577840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200">
                <a:solidFill>
                  <a:srgbClr val="460073"/>
                </a:solidFill>
                <a:latin typeface="Calibri"/>
              </a:rPr>
              <a:t>PLUGGABLE ADAPTERS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645920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645920" y="5897880"/>
            <a:ext cx="1686153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Key Store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41801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441801" y="5897880"/>
            <a:ext cx="1686153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Spend Store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237683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237683" y="5897880"/>
            <a:ext cx="1686153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Pricing Source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033564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033564" y="5897880"/>
            <a:ext cx="1686153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Rules Source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29446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8829446" y="5897880"/>
            <a:ext cx="1686153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Rate Limiter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THE FREEROUTER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FreeRouter solves 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Each pain point in AI adoption maps to a built-in capability - so leaders move from firefighting to forecasting.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2DE52A3-42F8-8500-AA24-B840B602E3A6}"/>
              </a:ext>
            </a:extLst>
          </p:cNvPr>
          <p:cNvGrpSpPr/>
          <p:nvPr/>
        </p:nvGrpSpPr>
        <p:grpSpPr>
          <a:xfrm>
            <a:off x="688733" y="1964224"/>
            <a:ext cx="10814227" cy="4665176"/>
            <a:chOff x="548640" y="2468880"/>
            <a:chExt cx="11064240" cy="4800600"/>
          </a:xfrm>
        </p:grpSpPr>
        <p:sp>
          <p:nvSpPr>
            <p:cNvPr id="8" name="Rectangle 7"/>
            <p:cNvSpPr/>
            <p:nvPr/>
          </p:nvSpPr>
          <p:spPr>
            <a:xfrm>
              <a:off x="548640" y="2468880"/>
              <a:ext cx="5303520" cy="365760"/>
            </a:xfrm>
            <a:prstGeom prst="rect">
              <a:avLst/>
            </a:prstGeom>
            <a:solidFill>
              <a:srgbClr val="F4F4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13232" y="2468880"/>
              <a:ext cx="4974336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100" b="1" spc="200">
                  <a:solidFill>
                    <a:srgbClr val="5C5C5C"/>
                  </a:solidFill>
                  <a:latin typeface="Calibri"/>
                </a:rPr>
                <a:t>THE PROBLEM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309360" y="2468880"/>
              <a:ext cx="5303520" cy="365760"/>
            </a:xfrm>
            <a:prstGeom prst="rect">
              <a:avLst/>
            </a:prstGeom>
            <a:solidFill>
              <a:srgbClr val="460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473952" y="2468880"/>
              <a:ext cx="4974336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100" b="1" spc="200">
                  <a:solidFill>
                    <a:srgbClr val="FFFFFF"/>
                  </a:solidFill>
                  <a:latin typeface="Calibri"/>
                </a:rPr>
                <a:t>FREEROUTER SOLVES IT BY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48640" y="2944368"/>
              <a:ext cx="5303520" cy="777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31520" y="2944368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000000"/>
                  </a:solidFill>
                  <a:latin typeface="Calibri"/>
                </a:rPr>
                <a:t>Costs explode without warning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52160" y="2944368"/>
              <a:ext cx="45720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2200" b="1">
                  <a:solidFill>
                    <a:srgbClr val="A100FF"/>
                  </a:solidFill>
                  <a:latin typeface="Calibri"/>
                </a:rPr>
                <a:t>&gt;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309360" y="2944368"/>
              <a:ext cx="5303520" cy="777240"/>
            </a:xfrm>
            <a:prstGeom prst="rect">
              <a:avLst/>
            </a:prstGeom>
            <a:solidFill>
              <a:srgbClr val="F2E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09360" y="2944368"/>
              <a:ext cx="54864" cy="777240"/>
            </a:xfrm>
            <a:prstGeom prst="rect">
              <a:avLst/>
            </a:prstGeom>
            <a:solidFill>
              <a:srgbClr val="A100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92240" y="2944368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460073"/>
                  </a:solidFill>
                  <a:latin typeface="Calibri"/>
                </a:rPr>
                <a:t>Five-tier budget cascade catches overspend before it happens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48640" y="3831336"/>
              <a:ext cx="5303520" cy="777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31520" y="3831336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000000"/>
                  </a:solidFill>
                  <a:latin typeface="Calibri"/>
                </a:rPr>
                <a:t>Teams use the most expensive model for everything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852160" y="3831336"/>
              <a:ext cx="45720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2200" b="1">
                  <a:solidFill>
                    <a:srgbClr val="A100FF"/>
                  </a:solidFill>
                  <a:latin typeface="Calibri"/>
                </a:rPr>
                <a:t>&gt;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309360" y="3831336"/>
              <a:ext cx="5303520" cy="777240"/>
            </a:xfrm>
            <a:prstGeom prst="rect">
              <a:avLst/>
            </a:prstGeom>
            <a:solidFill>
              <a:srgbClr val="F2E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309360" y="3831336"/>
              <a:ext cx="54864" cy="777240"/>
            </a:xfrm>
            <a:prstGeom prst="rect">
              <a:avLst/>
            </a:prstGeom>
            <a:solidFill>
              <a:srgbClr val="A100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92240" y="3831336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460073"/>
                  </a:solidFill>
                  <a:latin typeface="Calibri"/>
                </a:rPr>
                <a:t>Routes batch and back-office work to cheaper, capable models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548640" y="4718304"/>
              <a:ext cx="5303520" cy="777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31520" y="4718304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000000"/>
                  </a:solidFill>
                  <a:latin typeface="Calibri"/>
                </a:rPr>
                <a:t>Finance can't tell who used what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2160" y="4718304"/>
              <a:ext cx="45720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2200" b="1">
                  <a:solidFill>
                    <a:srgbClr val="A100FF"/>
                  </a:solidFill>
                  <a:latin typeface="Calibri"/>
                </a:rPr>
                <a:t>&gt;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309360" y="4718304"/>
              <a:ext cx="5303520" cy="777240"/>
            </a:xfrm>
            <a:prstGeom prst="rect">
              <a:avLst/>
            </a:prstGeom>
            <a:solidFill>
              <a:srgbClr val="F2E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309360" y="4718304"/>
              <a:ext cx="54864" cy="777240"/>
            </a:xfrm>
            <a:prstGeom prst="rect">
              <a:avLst/>
            </a:prstGeom>
            <a:solidFill>
              <a:srgbClr val="A100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92240" y="4718304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460073"/>
                  </a:solidFill>
                  <a:latin typeface="Calibri"/>
                </a:rPr>
                <a:t>Real-time spend tracking and ERP-ready chargeback reports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48640" y="5605272"/>
              <a:ext cx="5303520" cy="777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31520" y="5605272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000000"/>
                  </a:solidFill>
                  <a:latin typeface="Calibri"/>
                </a:rPr>
                <a:t>Provider outages break the business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852160" y="5605272"/>
              <a:ext cx="45720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2200" b="1">
                  <a:solidFill>
                    <a:srgbClr val="A100FF"/>
                  </a:solidFill>
                  <a:latin typeface="Calibri"/>
                </a:rPr>
                <a:t>&gt;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309360" y="5605272"/>
              <a:ext cx="5303520" cy="777240"/>
            </a:xfrm>
            <a:prstGeom prst="rect">
              <a:avLst/>
            </a:prstGeom>
            <a:solidFill>
              <a:srgbClr val="F2E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309360" y="5605272"/>
              <a:ext cx="54864" cy="777240"/>
            </a:xfrm>
            <a:prstGeom prst="rect">
              <a:avLst/>
            </a:prstGeom>
            <a:solidFill>
              <a:srgbClr val="A100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492240" y="5605272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460073"/>
                  </a:solidFill>
                  <a:latin typeface="Calibri"/>
                </a:rPr>
                <a:t>Automatic fallback across providers - no redeploy needed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548640" y="6492240"/>
              <a:ext cx="5303520" cy="777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31520" y="6492240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000000"/>
                  </a:solidFill>
                  <a:latin typeface="Calibri"/>
                </a:rPr>
                <a:t>Compliance changes take weeks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852160" y="6492240"/>
              <a:ext cx="45720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2200" b="1">
                  <a:solidFill>
                    <a:srgbClr val="A100FF"/>
                  </a:solidFill>
                  <a:latin typeface="Calibri"/>
                </a:rPr>
                <a:t>&gt;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309360" y="6492240"/>
              <a:ext cx="5303520" cy="777240"/>
            </a:xfrm>
            <a:prstGeom prst="rect">
              <a:avLst/>
            </a:prstGeom>
            <a:solidFill>
              <a:srgbClr val="F2E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309360" y="6492240"/>
              <a:ext cx="54864" cy="777240"/>
            </a:xfrm>
            <a:prstGeom prst="rect">
              <a:avLst/>
            </a:prstGeom>
            <a:solidFill>
              <a:srgbClr val="A100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492240" y="6492240"/>
              <a:ext cx="493776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00" b="0">
                  <a:solidFill>
                    <a:srgbClr val="460073"/>
                  </a:solidFill>
                  <a:latin typeface="Calibri"/>
                </a:rPr>
                <a:t>Block models or update policies in seconds, live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BUILT FOR THE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Why FreeRouter works at enterprise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Large organisations need controls that match how they actually operate - with multiple teams, strict compliance, and zero tolerance for downtime.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Hierarchical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Budgets and policies cascade through org &gt; department &gt; team &gt; user. Every layer has visibility and control over what sits beneath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46888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Audit-ready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Every key change, every request, every policy decision is logged in a structured audit trail - ready for SOC 2, ISO, and internal review.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1856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71856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883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Compliance and legal holds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22148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Block any model instantly across all teams when legal or compliance raises a concern. No emergency redeploys, no downtime.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1856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2200" y="371856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883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Chargeback to ERP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2148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Generate breakdowns by team, department, model, and provider for any date range - feed them straight into existing finance systems.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6824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496824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13283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Zero new dependencies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7116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Built with no third-party packages - no new supply-chain risk, no transitive vulnerabilities for security teams to track.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96824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72200" y="496824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513283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Hot-reload everything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47116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Pricing, rules, models, providers - all updatable at runtime by platform admins, with no engineering ticket required.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CLOUD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Runs anywhere your business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has zero infrastructure dependencies, so it deploys natively on every major cloud platform - and routes to that cloud's native AI services too.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33335"/>
            <a:ext cx="3578352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33335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361351"/>
            <a:ext cx="35783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36255"/>
            <a:ext cx="3578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Amazon Web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66607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66607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in any container service: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50655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650655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ECS, EKS, Fargate, App Runner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34703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34703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Lambda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18751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418751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DynamoDB or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02799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02799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AWS Secrets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86847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186847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Bedrock models routed alongside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1584" y="2233335"/>
            <a:ext cx="3578352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91584" y="2233335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1584" y="2361351"/>
            <a:ext cx="35783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Azure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1584" y="2736255"/>
            <a:ext cx="3578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Microsoft Azure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4464" y="3266607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3064" y="3266607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on App Service or AKS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4464" y="3650655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3064" y="3650655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Azure Functions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4464" y="4034703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3064" y="4034703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Cosmos 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4464" y="4418751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3064" y="4418751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Azure Key Vault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4464" y="4802799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3064" y="4802799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Azure OpenAI routed natively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4464" y="5186847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3064" y="5186847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Microsoft Entra ID for identity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34528" y="2233335"/>
            <a:ext cx="3578352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34528" y="2233335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34528" y="2361351"/>
            <a:ext cx="35783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GCP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34528" y="2736255"/>
            <a:ext cx="3578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Google Cloud Platform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7408" y="3266607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46008" y="3266607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on Cloud Run or GKE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7408" y="3650655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46008" y="3650655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Cloud Functions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7408" y="4034703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46008" y="4034703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Firestore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17408" y="4418751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46008" y="4418751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Secret Manager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17408" y="4802799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6008" y="4802799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Vertex AI / Gemini routed natively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7408" y="5186847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6008" y="5186847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IAM via Workload Identity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5687915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48640" y="5687915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7240" y="5687915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FreeRouter is cloud-agnostic - the same library runs unchanged across AWS, Azure, and GCP.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AI costs can spiral overnight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When teams use large language models, a single mistake - a runaway loop, an over-eager experiment - can burn through a month's budget in minutes. Without controls, leaders are forced to choose between innovation and predictability.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578608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$$$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Unbounded spend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930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No caps means no ceiling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70832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70832" y="2578608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3246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accountability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34930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Who used what, and why?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93024" y="2578608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3246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Reactive, not proactive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4" y="34930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Surprises arrive at month-end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148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1148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114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FreeRouter applies proven FinOps principles to AI spend - turning a cost surprise into a cost strategy.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What is FinOps?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FinOps is the discipline of bringing financial accountability to variable, on-demand spending. It is built on four simple ideas.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1. See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Every dollar should be visible - by team, by user, by use case - in real time, not at month-end.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2. Own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The teams using AI should be the teams accountable for the spend. Budgets cascade from the top 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645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3. Optimize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8348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Spend the right amount on the right work - no more, no less. Premium models for premium tasks.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220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4645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4. Adapt continuously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8348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Prices change, priorities shift, models evolve. Controls must update without redeploying systems.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Real-time visibility into who is spending what, on which model, for which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1 - VISIBILITY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Every request, fully attributed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records every interaction with full context - so leaders never have to ask "where did that bill come from?"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spend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5292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Current spend by user, team, department, and organisation - available at any moment.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4670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Audit trail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3931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Every request, key change, and budget event is logged with who, what, when, and why.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7822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Chargeback-ready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569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One click produces an ERP-ready breakdown - by team, by model, by provider, for any date range.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6460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919472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1947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Threshold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212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At 50%, 80%, 95% of budget - automated notifications go to the right people, before it's too late.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Own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Budgets cascade from the enterprise down to the individual - accountability at every layer.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2 -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Budgets cascade through the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request must satisfy every budget above it. Engineering's overspend cannot consume the sales team's budget. Each layer protects the others.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5476" y="2468880"/>
            <a:ext cx="68580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65476" y="2468880"/>
            <a:ext cx="6858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Global enterprise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52928"/>
            <a:ext cx="1218895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68396" y="3017520"/>
            <a:ext cx="5852160" cy="38404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68396" y="3017520"/>
            <a:ext cx="5852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Organisation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3401568"/>
            <a:ext cx="1218895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1316" y="3566160"/>
            <a:ext cx="4846320" cy="384048"/>
          </a:xfrm>
          <a:prstGeom prst="rect">
            <a:avLst/>
          </a:prstGeom>
          <a:solidFill>
            <a:srgbClr val="B4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71316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Department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3950208"/>
            <a:ext cx="1218895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4236" y="4114800"/>
            <a:ext cx="38404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74236" y="4114800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460073"/>
                </a:solidFill>
                <a:latin typeface="Calibri"/>
              </a:rPr>
              <a:t>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4498848"/>
            <a:ext cx="1218895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77156" y="4663440"/>
            <a:ext cx="2834640" cy="384048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77156" y="4663440"/>
            <a:ext cx="28346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460073"/>
                </a:solidFill>
                <a:latin typeface="Calibri"/>
              </a:rPr>
              <a:t>Individual user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4864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Five tiers, all checked before every single request. No team can blow another team's budget.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2 -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When a budget is reached, choose your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Different teams need different protections. A research lab might warn; a customer-facing product must block. FreeRouter lets each policy decide.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1828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560320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560320"/>
            <a:ext cx="50292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42032" y="2560320"/>
            <a:ext cx="48646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WHAT HAPPENS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2560320"/>
            <a:ext cx="4114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71232" y="2560320"/>
            <a:ext cx="3950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BEST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4436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2944368"/>
            <a:ext cx="1499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Block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294436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377440" y="343814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42032" y="2944368"/>
            <a:ext cx="47000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Request is rejected immediately.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94436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406640" y="343814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71232" y="2944368"/>
            <a:ext cx="3785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Hard caps, customer billing protection.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4728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394106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3232" y="3447288"/>
            <a:ext cx="1499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Downgrade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344728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377440" y="394106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542032" y="3447288"/>
            <a:ext cx="47000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Re-routed to a cheaper model so work continues.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44728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406640" y="394106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71232" y="3447288"/>
            <a:ext cx="3785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Keep services running on a smaller footprint.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95020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444398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" y="3950208"/>
            <a:ext cx="1499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Warn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395020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377440" y="444398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42032" y="3950208"/>
            <a:ext cx="47000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Request proceeds, a warning is logged.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95020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406640" y="444398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1232" y="3950208"/>
            <a:ext cx="3785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Internal teams who self-manage spend.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8640" y="494690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3232" y="4453128"/>
            <a:ext cx="1499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Notify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0" y="445312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2377440" y="494690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542032" y="4453128"/>
            <a:ext cx="47000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Triggers external alerts and dashboards.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45312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406640" y="494690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71232" y="4453128"/>
            <a:ext cx="3785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Slack, email, ticketing integration.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Optimize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Spend the right amount on the right work. Pay premium prices only when premium quality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3 -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Match the model to the moment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Not every task needs a flagship model. FreeRouter automatically routes lower-priority work to the most cost-effective option - without sacrificing quality on the work that matters.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Cheapest viable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For batch and back-office work, FreeRouter picks the lowest-cost model that meets the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Realtime stays 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Customer-facing, latency-sensitive requests always use the chosen flagship model - no surprises.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Cache-aware pricing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When providers offer cached-input discounts, FreeRouter recognises and applies them automatically.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pricing refresh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When providers change their rates, FreeRouter updates without a redeploy. Cost calculations stay accurate.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Typical outcome: overnight batch jobs reduced from premium pricing to a fraction of the cost - often a 10x to 16x reduction.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3 -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When cost isn't the only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Sometimes quality, compliance, or business value override pure cost minimization. The Rules Engine lets leaders express those choices in plain business terms.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Legal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Always uses the highest-quality model - contract review is no place to cut corners.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Marketing bulk content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Defaults to the cheapest viable model - volume matters more than nuance.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645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Code review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8348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Always uses a top-tier model regardless of team - quality protects the codebase.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220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4645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Contractor accounts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8348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Blocked from frontier models - controlled access, predictable cost.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Rules can be updated by an admin in seconds - no engineering changes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See it coming.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Forecast the future, not just the past. Catch budget risk before it becomes a budget overrun.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4 -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Burn-rate forecasting, in plain English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doesn't just track today's spend - it projects where the team is heading, and flags trouble early.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460073"/>
                </a:solidFill>
                <a:latin typeface="Calibri"/>
              </a:rPr>
              <a:t>On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2468880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460073"/>
                </a:solidFill>
                <a:latin typeface="Calibri"/>
              </a:rPr>
              <a:t>At risk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A100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2468880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Over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9184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On 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Current burn rate suggests the team will end the month within budget. No action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07822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7083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Spend is trending toward the cap. Time to investigate, throttle non-critical use, or reset expectations.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0974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6460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6460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Over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15721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The forecast already exceeds the budget. Automated alerts fire so leaders can intervene immediately.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Adapt continuously.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Markets move. Prices change. Policies shift. FinOps controls must keep up - without redeploying.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5 - ADAPTABILITY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Change controls, not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FinOps platform that requires an engineering ticket for every change is a FinOps platform no one uses. FreeRouter is designed for live changes by people who manage cost, not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pricing updates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Edit a pricing file, the change is picked up automatically. No restart, no redeploy.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Hot-reloadable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Add, remove, or adjust routing rules at runtime. Incident response in seconds.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Compliance hold, on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Block or unblock any model instantly across all teams - without affecting historical reporting.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Spend persistence across restarts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Budget counters survive system restarts. Accountability is never reset by accident.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5 - ADAPTABILITY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A control panel for the people who own the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An optional desktop configuration manager lets platform admins update budgets, rules, providers, pricing, and environment variables - without opening a terminal, editing JSON, or filing an engineering ticket.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Standalone and optional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 separate desktop app, never bundled with the router. Adopt it, ignore it, or remove it - the platform behaves identically either 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Admin-only, key-protected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Single-admin access secured by a generated key with a salted, hashed digest stored locally. No key, no GUI.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Validated, atomic edits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Every save runs the same structural checks the runtime uses; bad inputs are rejected before any file is written.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Local-only, cross-platform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Runs on Linux, macOS, and Windows. No network surface, no listening port - purely a file editor with guard rails.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The five principles, working as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applies all five FinOps principles to every single AI request - automatically, before the request leaves the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9132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913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See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917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5C5C5C"/>
                </a:solidFill>
                <a:latin typeface="Calibri"/>
              </a:rPr>
              <a:t>Real-time spend, audit trail, chargeback reports.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30652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985516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85516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Own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78124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Five-tier budget cascade - no team blows another team's budget.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17036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377190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7719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Optimize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6450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Cost-aware routing for batch work; quality-first routing where it matters.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0342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55828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55828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See it coming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8508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Burn-rate forecasting flags trouble days before it hits the budget.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28980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34466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4466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Adapt continuously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63727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Live pricing, live rules, live policy - managed by admins, not engineers, through code or the optional configuration manager.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9999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FinOps for AI,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A100FF"/>
                </a:solidFill>
                <a:latin typeface="Calibri"/>
              </a:rPr>
              <a:t>built in from day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CCCCCC"/>
                </a:solidFill>
                <a:latin typeface="Calibri"/>
              </a:rPr>
              <a:t>Predictable spending. Clear accountability. Real optimization. Without slowing the business 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2211</Words>
  <Application>Microsoft Macintosh PowerPoint</Application>
  <PresentationFormat>Widescreen</PresentationFormat>
  <Paragraphs>375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Ahuja, Rajat</cp:lastModifiedBy>
  <cp:revision>2</cp:revision>
  <dcterms:created xsi:type="dcterms:W3CDTF">2013-01-27T09:14:16Z</dcterms:created>
  <dcterms:modified xsi:type="dcterms:W3CDTF">2026-05-01T15:15:44Z</dcterms:modified>
  <cp:category/>
</cp:coreProperties>
</file>